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24" r:id="rId2"/>
    <p:sldId id="264" r:id="rId3"/>
    <p:sldId id="305" r:id="rId4"/>
    <p:sldId id="271" r:id="rId5"/>
    <p:sldId id="263" r:id="rId6"/>
    <p:sldId id="275" r:id="rId7"/>
    <p:sldId id="278" r:id="rId8"/>
    <p:sldId id="269" r:id="rId9"/>
    <p:sldId id="270" r:id="rId10"/>
    <p:sldId id="266" r:id="rId11"/>
    <p:sldId id="268" r:id="rId12"/>
    <p:sldId id="306" r:id="rId13"/>
    <p:sldId id="289" r:id="rId14"/>
    <p:sldId id="290" r:id="rId15"/>
    <p:sldId id="291" r:id="rId16"/>
    <p:sldId id="293" r:id="rId17"/>
    <p:sldId id="308" r:id="rId18"/>
    <p:sldId id="295" r:id="rId19"/>
    <p:sldId id="296" r:id="rId20"/>
    <p:sldId id="318" r:id="rId21"/>
    <p:sldId id="317" r:id="rId22"/>
    <p:sldId id="320" r:id="rId23"/>
    <p:sldId id="321" r:id="rId24"/>
    <p:sldId id="300" r:id="rId25"/>
    <p:sldId id="303" r:id="rId26"/>
    <p:sldId id="286" r:id="rId27"/>
    <p:sldId id="297" r:id="rId28"/>
    <p:sldId id="307" r:id="rId29"/>
    <p:sldId id="315" r:id="rId30"/>
    <p:sldId id="311" r:id="rId31"/>
    <p:sldId id="316" r:id="rId32"/>
    <p:sldId id="322" r:id="rId33"/>
    <p:sldId id="323" r:id="rId34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BD2163-AE92-4957-9B22-0F794D5874CE}" v="4" dt="2024-06-28T14:36:02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Firmani" userId="8c12050e-f816-4d18-8725-d6fb9fe95441" providerId="ADAL" clId="{4940B08E-787A-452F-8B07-8EE29249DA04}"/>
    <pc:docChg chg="modSld">
      <pc:chgData name="Daniele Firmani" userId="8c12050e-f816-4d18-8725-d6fb9fe95441" providerId="ADAL" clId="{4940B08E-787A-452F-8B07-8EE29249DA04}" dt="2024-06-28T13:13:40.564" v="0" actId="20577"/>
      <pc:docMkLst>
        <pc:docMk/>
      </pc:docMkLst>
      <pc:sldChg chg="modSp mod">
        <pc:chgData name="Daniele Firmani" userId="8c12050e-f816-4d18-8725-d6fb9fe95441" providerId="ADAL" clId="{4940B08E-787A-452F-8B07-8EE29249DA04}" dt="2024-06-28T13:13:40.564" v="0" actId="20577"/>
        <pc:sldMkLst>
          <pc:docMk/>
          <pc:sldMk cId="903577691" sldId="266"/>
        </pc:sldMkLst>
        <pc:spChg chg="mod">
          <ac:chgData name="Daniele Firmani" userId="8c12050e-f816-4d18-8725-d6fb9fe95441" providerId="ADAL" clId="{4940B08E-787A-452F-8B07-8EE29249DA04}" dt="2024-06-28T13:13:40.564" v="0" actId="20577"/>
          <ac:spMkLst>
            <pc:docMk/>
            <pc:sldMk cId="903577691" sldId="266"/>
            <ac:spMk id="3" creationId="{47443C2E-38B0-B57A-B7C3-9B56906C1637}"/>
          </ac:spMkLst>
        </pc:spChg>
      </pc:sldChg>
    </pc:docChg>
  </pc:docChgLst>
  <pc:docChgLst>
    <pc:chgData name="Matteo Filippi" userId="749cfba8-f433-4c47-aa53-a7c5f320f976" providerId="ADAL" clId="{D9BD2163-AE92-4957-9B22-0F794D5874CE}"/>
    <pc:docChg chg="undo custSel addSld delSld modSld">
      <pc:chgData name="Matteo Filippi" userId="749cfba8-f433-4c47-aa53-a7c5f320f976" providerId="ADAL" clId="{D9BD2163-AE92-4957-9B22-0F794D5874CE}" dt="2024-06-30T08:49:21.026" v="111" actId="20577"/>
      <pc:docMkLst>
        <pc:docMk/>
      </pc:docMkLst>
      <pc:sldChg chg="modNotesTx">
        <pc:chgData name="Matteo Filippi" userId="749cfba8-f433-4c47-aa53-a7c5f320f976" providerId="ADAL" clId="{D9BD2163-AE92-4957-9B22-0F794D5874CE}" dt="2024-06-28T12:14:21.871" v="0" actId="20577"/>
        <pc:sldMkLst>
          <pc:docMk/>
          <pc:sldMk cId="903577691" sldId="266"/>
        </pc:sldMkLst>
      </pc:sldChg>
      <pc:sldChg chg="modNotesTx">
        <pc:chgData name="Matteo Filippi" userId="749cfba8-f433-4c47-aa53-a7c5f320f976" providerId="ADAL" clId="{D9BD2163-AE92-4957-9B22-0F794D5874CE}" dt="2024-06-28T12:14:42.513" v="2" actId="20577"/>
        <pc:sldMkLst>
          <pc:docMk/>
          <pc:sldMk cId="1362604749" sldId="295"/>
        </pc:sldMkLst>
      </pc:sldChg>
      <pc:sldChg chg="modNotesTx">
        <pc:chgData name="Matteo Filippi" userId="749cfba8-f433-4c47-aa53-a7c5f320f976" providerId="ADAL" clId="{D9BD2163-AE92-4957-9B22-0F794D5874CE}" dt="2024-06-28T12:14:29.742" v="1" actId="20577"/>
        <pc:sldMkLst>
          <pc:docMk/>
          <pc:sldMk cId="3677343666" sldId="306"/>
        </pc:sldMkLst>
      </pc:sldChg>
      <pc:sldChg chg="delSp modSp del mod">
        <pc:chgData name="Matteo Filippi" userId="749cfba8-f433-4c47-aa53-a7c5f320f976" providerId="ADAL" clId="{D9BD2163-AE92-4957-9B22-0F794D5874CE}" dt="2024-06-28T14:32:06.989" v="23" actId="47"/>
        <pc:sldMkLst>
          <pc:docMk/>
          <pc:sldMk cId="656138488" sldId="314"/>
        </pc:sldMkLst>
        <pc:spChg chg="del">
          <ac:chgData name="Matteo Filippi" userId="749cfba8-f433-4c47-aa53-a7c5f320f976" providerId="ADAL" clId="{D9BD2163-AE92-4957-9B22-0F794D5874CE}" dt="2024-06-28T14:30:55.930" v="9" actId="478"/>
          <ac:spMkLst>
            <pc:docMk/>
            <pc:sldMk cId="656138488" sldId="314"/>
            <ac:spMk id="9" creationId="{00000000-0000-0000-0000-000000000000}"/>
          </ac:spMkLst>
        </pc:spChg>
        <pc:spChg chg="del mod">
          <ac:chgData name="Matteo Filippi" userId="749cfba8-f433-4c47-aa53-a7c5f320f976" providerId="ADAL" clId="{D9BD2163-AE92-4957-9B22-0F794D5874CE}" dt="2024-06-28T14:31:58.242" v="22" actId="478"/>
          <ac:spMkLst>
            <pc:docMk/>
            <pc:sldMk cId="656138488" sldId="314"/>
            <ac:spMk id="11" creationId="{00000000-0000-0000-0000-000000000000}"/>
          </ac:spMkLst>
        </pc:spChg>
        <pc:spChg chg="del">
          <ac:chgData name="Matteo Filippi" userId="749cfba8-f433-4c47-aa53-a7c5f320f976" providerId="ADAL" clId="{D9BD2163-AE92-4957-9B22-0F794D5874CE}" dt="2024-06-28T14:31:07.598" v="10" actId="478"/>
          <ac:spMkLst>
            <pc:docMk/>
            <pc:sldMk cId="656138488" sldId="314"/>
            <ac:spMk id="132" creationId="{00000000-0000-0000-0000-000000000000}"/>
          </ac:spMkLst>
        </pc:spChg>
      </pc:sldChg>
      <pc:sldChg chg="modSp mod">
        <pc:chgData name="Matteo Filippi" userId="749cfba8-f433-4c47-aa53-a7c5f320f976" providerId="ADAL" clId="{D9BD2163-AE92-4957-9B22-0F794D5874CE}" dt="2024-06-30T08:49:21.026" v="111" actId="20577"/>
        <pc:sldMkLst>
          <pc:docMk/>
          <pc:sldMk cId="2340373374" sldId="315"/>
        </pc:sldMkLst>
        <pc:spChg chg="mod">
          <ac:chgData name="Matteo Filippi" userId="749cfba8-f433-4c47-aa53-a7c5f320f976" providerId="ADAL" clId="{D9BD2163-AE92-4957-9B22-0F794D5874CE}" dt="2024-06-30T08:49:21.026" v="111" actId="20577"/>
          <ac:spMkLst>
            <pc:docMk/>
            <pc:sldMk cId="2340373374" sldId="315"/>
            <ac:spMk id="21" creationId="{F1FEE08B-FEA6-BBC3-B2B6-AD940DA6623A}"/>
          </ac:spMkLst>
        </pc:spChg>
      </pc:sldChg>
      <pc:sldChg chg="modNotesTx">
        <pc:chgData name="Matteo Filippi" userId="749cfba8-f433-4c47-aa53-a7c5f320f976" providerId="ADAL" clId="{D9BD2163-AE92-4957-9B22-0F794D5874CE}" dt="2024-06-28T12:15:03.670" v="3" actId="20577"/>
        <pc:sldMkLst>
          <pc:docMk/>
          <pc:sldMk cId="3704309787" sldId="323"/>
        </pc:sldMkLst>
      </pc:sldChg>
      <pc:sldChg chg="addSp delSp modSp add mod">
        <pc:chgData name="Matteo Filippi" userId="749cfba8-f433-4c47-aa53-a7c5f320f976" providerId="ADAL" clId="{D9BD2163-AE92-4957-9B22-0F794D5874CE}" dt="2024-06-28T14:38:56.446" v="95" actId="1037"/>
        <pc:sldMkLst>
          <pc:docMk/>
          <pc:sldMk cId="675973077" sldId="324"/>
        </pc:sldMkLst>
        <pc:spChg chg="mod">
          <ac:chgData name="Matteo Filippi" userId="749cfba8-f433-4c47-aa53-a7c5f320f976" providerId="ADAL" clId="{D9BD2163-AE92-4957-9B22-0F794D5874CE}" dt="2024-06-28T14:38:44.027" v="94" actId="1035"/>
          <ac:spMkLst>
            <pc:docMk/>
            <pc:sldMk cId="675973077" sldId="324"/>
            <ac:spMk id="5" creationId="{00000000-0000-0000-0000-000000000000}"/>
          </ac:spMkLst>
        </pc:spChg>
        <pc:spChg chg="add del mod ord">
          <ac:chgData name="Matteo Filippi" userId="749cfba8-f433-4c47-aa53-a7c5f320f976" providerId="ADAL" clId="{D9BD2163-AE92-4957-9B22-0F794D5874CE}" dt="2024-06-28T14:33:14.925" v="27" actId="167"/>
          <ac:spMkLst>
            <pc:docMk/>
            <pc:sldMk cId="675973077" sldId="324"/>
            <ac:spMk id="9" creationId="{00000000-0000-0000-0000-000000000000}"/>
          </ac:spMkLst>
        </pc:spChg>
        <pc:spChg chg="mod">
          <ac:chgData name="Matteo Filippi" userId="749cfba8-f433-4c47-aa53-a7c5f320f976" providerId="ADAL" clId="{D9BD2163-AE92-4957-9B22-0F794D5874CE}" dt="2024-06-28T14:38:56.446" v="95" actId="1037"/>
          <ac:spMkLst>
            <pc:docMk/>
            <pc:sldMk cId="675973077" sldId="324"/>
            <ac:spMk id="11" creationId="{00000000-0000-0000-0000-000000000000}"/>
          </ac:spMkLst>
        </pc:spChg>
        <pc:spChg chg="add del mod">
          <ac:chgData name="Matteo Filippi" userId="749cfba8-f433-4c47-aa53-a7c5f320f976" providerId="ADAL" clId="{D9BD2163-AE92-4957-9B22-0F794D5874CE}" dt="2024-06-28T14:36:48.336" v="69" actId="478"/>
          <ac:spMkLst>
            <pc:docMk/>
            <pc:sldMk cId="675973077" sldId="324"/>
            <ac:spMk id="132" creationId="{00000000-0000-0000-0000-000000000000}"/>
          </ac:spMkLst>
        </pc:spChg>
        <pc:grpChg chg="mod">
          <ac:chgData name="Matteo Filippi" userId="749cfba8-f433-4c47-aa53-a7c5f320f976" providerId="ADAL" clId="{D9BD2163-AE92-4957-9B22-0F794D5874CE}" dt="2024-06-28T14:38:31.290" v="92" actId="1035"/>
          <ac:grpSpMkLst>
            <pc:docMk/>
            <pc:sldMk cId="675973077" sldId="324"/>
            <ac:grpSpMk id="10" creationId="{00000000-0000-0000-0000-000000000000}"/>
          </ac:grpSpMkLst>
        </pc:grpChg>
        <pc:picChg chg="mod">
          <ac:chgData name="Matteo Filippi" userId="749cfba8-f433-4c47-aa53-a7c5f320f976" providerId="ADAL" clId="{D9BD2163-AE92-4957-9B22-0F794D5874CE}" dt="2024-06-28T14:36:02.028" v="48" actId="167"/>
          <ac:picMkLst>
            <pc:docMk/>
            <pc:sldMk cId="675973077" sldId="324"/>
            <ac:picMk id="8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7721BD4C-D5AE-4719-92FF-3056577E9A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6C5B58C-73C1-D3FD-3236-A54C3EA55B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97883-9DAB-4977-9E38-78D2F5A69B1D}" type="datetimeFigureOut">
              <a:rPr lang="it-IT" smtClean="0"/>
              <a:t>30/06/2024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C62496-9447-44AA-0439-36CFE94D57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C8B4E16-392E-3B9B-9F25-1FB9FE0BC8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9B90D-621E-4F87-8203-BC8CFE3C82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559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5AEF4-629F-4A00-B481-80A96792B986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0A533-0856-425E-A7CC-A2CC2586779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4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42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80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24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1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2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235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31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37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00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88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5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11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A533-0856-425E-A7CC-A2CC2586779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4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 userDrawn="1"/>
        </p:nvSpPr>
        <p:spPr>
          <a:xfrm>
            <a:off x="0" y="3832224"/>
            <a:ext cx="9144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9" name="Gruppo 168"/>
          <p:cNvGrpSpPr/>
          <p:nvPr userDrawn="1"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1534" y="5260975"/>
            <a:ext cx="77724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"/>
            <a:ext cx="9144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569600"/>
            <a:ext cx="8323726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135589"/>
            <a:ext cx="9144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53676" y="1131084"/>
            <a:ext cx="9036647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898" y="6346378"/>
            <a:ext cx="2780124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00E6BA8E-B922-1B5C-1533-542BE770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521" y="203334"/>
            <a:ext cx="8581043" cy="840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413D4EA-0472-315C-2DC3-36E06DC4ECAF}"/>
              </a:ext>
            </a:extLst>
          </p:cNvPr>
          <p:cNvSpPr txBox="1"/>
          <p:nvPr userDrawn="1"/>
        </p:nvSpPr>
        <p:spPr>
          <a:xfrm>
            <a:off x="160383" y="6336546"/>
            <a:ext cx="33105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b="1">
                <a:solidFill>
                  <a:srgbClr val="FFFFFF"/>
                </a:solidFill>
                <a:latin typeface="Arial"/>
                <a:cs typeface="Arial"/>
              </a:rPr>
              <a:t>Data Analysis for </a:t>
            </a:r>
            <a:r>
              <a:rPr lang="it-IT" sz="1350" b="1" err="1">
                <a:solidFill>
                  <a:srgbClr val="FFFFFF"/>
                </a:solidFill>
                <a:latin typeface="Arial"/>
                <a:cs typeface="Arial"/>
              </a:rPr>
              <a:t>Mechanical</a:t>
            </a:r>
            <a:r>
              <a:rPr lang="it-IT" sz="1350" b="1">
                <a:solidFill>
                  <a:srgbClr val="FFFFFF"/>
                </a:solidFill>
                <a:latin typeface="Arial"/>
                <a:cs typeface="Arial"/>
              </a:rPr>
              <a:t> Systems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E59427-3953-F1BC-0516-D0B5B9F2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00960" y="6323364"/>
            <a:ext cx="2057400" cy="365125"/>
          </a:xfrm>
        </p:spPr>
        <p:txBody>
          <a:bodyPr/>
          <a:lstStyle>
            <a:lvl1pPr algn="ctr">
              <a:defRPr sz="1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2D48E31-BA16-44BB-90E1-74D7CFC4FC0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006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5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4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97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58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06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55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6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80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D42B0B-12D8-D407-7F5D-129450A8D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CA62FA-CF2D-05E7-81C3-02F2E52CF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2A48ED-2DBB-32A4-72AF-E226E13F4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D48E31-BA16-44BB-90E1-74D7CFC4FC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</p:sldLayoutIdLst>
  <p:hf hdr="0" ftr="0" dt="0"/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hyperlink" Target="https://en.wikipedia.org/wiki/Academic_yea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8" b="14682"/>
          <a:stretch/>
        </p:blipFill>
        <p:spPr bwMode="auto">
          <a:xfrm>
            <a:off x="0" y="0"/>
            <a:ext cx="9144000" cy="41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ttangolo 8"/>
          <p:cNvSpPr/>
          <p:nvPr/>
        </p:nvSpPr>
        <p:spPr>
          <a:xfrm>
            <a:off x="0" y="3530777"/>
            <a:ext cx="9144000" cy="3327223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3839231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 dirty="0" err="1"/>
              <a:t>Operational</a:t>
            </a:r>
            <a:r>
              <a:rPr lang="it-IT" sz="2800" dirty="0"/>
              <a:t> </a:t>
            </a:r>
            <a:r>
              <a:rPr lang="it-IT" sz="2800" dirty="0" err="1"/>
              <a:t>Modal</a:t>
            </a:r>
            <a:r>
              <a:rPr lang="it-IT" sz="2800" dirty="0"/>
              <a:t> Analysis of </a:t>
            </a:r>
            <a:r>
              <a:rPr lang="it-IT" sz="2800" dirty="0" err="1"/>
              <a:t>tie-rods</a:t>
            </a:r>
            <a:endParaRPr lang="it-IT" sz="2800" dirty="0"/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389326" y="4535420"/>
            <a:ext cx="8423552" cy="232205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it-IT" sz="1400" b="1" dirty="0" err="1">
                <a:solidFill>
                  <a:schemeClr val="bg1"/>
                </a:solidFill>
                <a:ea typeface="+mj-ea"/>
              </a:rPr>
              <a:t>Authors</a:t>
            </a:r>
            <a:r>
              <a:rPr lang="it-IT" sz="1400" b="1" dirty="0">
                <a:solidFill>
                  <a:schemeClr val="bg1"/>
                </a:solidFill>
                <a:ea typeface="+mj-ea"/>
              </a:rPr>
              <a:t>:	</a:t>
            </a:r>
          </a:p>
          <a:p>
            <a:pPr>
              <a:spcBef>
                <a:spcPct val="0"/>
              </a:spcBef>
            </a:pPr>
            <a:endParaRPr lang="it-IT" sz="600" b="1" dirty="0">
              <a:solidFill>
                <a:schemeClr val="bg1"/>
              </a:solidFill>
              <a:ea typeface="+mj-ea"/>
            </a:endParaRPr>
          </a:p>
          <a:p>
            <a:pPr>
              <a:spcBef>
                <a:spcPct val="0"/>
              </a:spcBef>
            </a:pPr>
            <a:r>
              <a:rPr lang="it-IT" sz="1400" b="1" dirty="0">
                <a:solidFill>
                  <a:schemeClr val="bg1"/>
                </a:solidFill>
                <a:ea typeface="+mj-ea"/>
              </a:rPr>
              <a:t>Matteo FILIPPI		</a:t>
            </a:r>
          </a:p>
          <a:p>
            <a:pPr>
              <a:spcBef>
                <a:spcPct val="0"/>
              </a:spcBef>
            </a:pPr>
            <a:r>
              <a:rPr lang="it-IT" sz="1400" b="1" dirty="0">
                <a:solidFill>
                  <a:schemeClr val="bg1"/>
                </a:solidFill>
                <a:ea typeface="+mj-ea"/>
              </a:rPr>
              <a:t>Daniele FIRMANI		</a:t>
            </a:r>
          </a:p>
          <a:p>
            <a:pPr>
              <a:spcBef>
                <a:spcPct val="0"/>
              </a:spcBef>
            </a:pPr>
            <a:r>
              <a:rPr lang="it-IT" sz="1400" b="1" dirty="0">
                <a:solidFill>
                  <a:schemeClr val="bg1"/>
                </a:solidFill>
                <a:ea typeface="+mj-ea"/>
              </a:rPr>
              <a:t>Andrea GALENDA</a:t>
            </a:r>
          </a:p>
          <a:p>
            <a:pPr>
              <a:spcBef>
                <a:spcPct val="0"/>
              </a:spcBef>
            </a:pPr>
            <a:r>
              <a:rPr lang="it-IT" sz="1400" b="1" dirty="0">
                <a:solidFill>
                  <a:schemeClr val="bg1"/>
                </a:solidFill>
                <a:ea typeface="+mj-ea"/>
              </a:rPr>
              <a:t>Alessandro GORLA</a:t>
            </a:r>
          </a:p>
          <a:p>
            <a:pPr>
              <a:spcBef>
                <a:spcPct val="0"/>
              </a:spcBef>
            </a:pPr>
            <a:r>
              <a:rPr lang="it-IT" sz="1400" b="1" dirty="0">
                <a:solidFill>
                  <a:schemeClr val="bg1"/>
                </a:solidFill>
                <a:ea typeface="+mj-ea"/>
              </a:rPr>
              <a:t>Andrea OTTINO</a:t>
            </a:r>
          </a:p>
          <a:p>
            <a:pPr>
              <a:spcBef>
                <a:spcPct val="0"/>
              </a:spcBef>
            </a:pPr>
            <a:endParaRPr lang="it-IT" sz="200" b="1" dirty="0">
              <a:solidFill>
                <a:schemeClr val="bg1"/>
              </a:solidFill>
              <a:ea typeface="+mj-ea"/>
            </a:endParaRPr>
          </a:p>
          <a:p>
            <a:pPr algn="r">
              <a:spcBef>
                <a:spcPct val="0"/>
              </a:spcBef>
            </a:pPr>
            <a:r>
              <a:rPr lang="it-IT" sz="1400" b="1" dirty="0">
                <a:solidFill>
                  <a:schemeClr val="bg1"/>
                </a:solidFill>
                <a:ea typeface="+mj-ea"/>
              </a:rPr>
              <a:t>Prof. Stefano MANZONI</a:t>
            </a:r>
          </a:p>
          <a:p>
            <a:pPr algn="r">
              <a:spcBef>
                <a:spcPct val="0"/>
              </a:spcBef>
            </a:pPr>
            <a:endParaRPr lang="it-IT" sz="700" b="1" dirty="0">
              <a:solidFill>
                <a:schemeClr val="bg1"/>
              </a:solidFill>
              <a:ea typeface="+mj-ea"/>
            </a:endParaRPr>
          </a:p>
          <a:p>
            <a:pPr algn="r">
              <a:spcBef>
                <a:spcPct val="0"/>
              </a:spcBef>
            </a:pPr>
            <a:endParaRPr lang="it-IT" sz="900" b="1" dirty="0">
              <a:solidFill>
                <a:schemeClr val="bg1"/>
              </a:solidFill>
              <a:ea typeface="+mj-ea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spcBef>
                <a:spcPct val="0"/>
              </a:spcBef>
            </a:pPr>
            <a:r>
              <a:rPr lang="it-IT" sz="1400" b="1" dirty="0" err="1">
                <a:solidFill>
                  <a:schemeClr val="bg1"/>
                </a:solidFill>
                <a:ea typeface="+mj-ea"/>
              </a:rPr>
              <a:t>Academic</a:t>
            </a:r>
            <a:r>
              <a:rPr lang="it-IT" sz="1400" b="1" dirty="0">
                <a:solidFill>
                  <a:schemeClr val="bg1"/>
                </a:solidFill>
                <a:ea typeface="+mj-ea"/>
              </a:rPr>
              <a:t> </a:t>
            </a:r>
            <a:r>
              <a:rPr lang="it-IT" sz="1400" b="1" dirty="0" err="1">
                <a:solidFill>
                  <a:schemeClr val="bg1"/>
                </a:solidFill>
                <a:ea typeface="+mj-ea"/>
              </a:rPr>
              <a:t>year</a:t>
            </a:r>
            <a:r>
              <a:rPr lang="it-IT" sz="1400" b="1" dirty="0">
                <a:solidFill>
                  <a:schemeClr val="bg1"/>
                </a:solidFill>
                <a:ea typeface="+mj-ea"/>
              </a:rPr>
              <a:t>: 2023/2024</a:t>
            </a:r>
          </a:p>
        </p:txBody>
      </p:sp>
      <p:pic>
        <p:nvPicPr>
          <p:cNvPr id="1028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725" y="1695207"/>
            <a:ext cx="21336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o 9"/>
          <p:cNvGrpSpPr/>
          <p:nvPr/>
        </p:nvGrpSpPr>
        <p:grpSpPr>
          <a:xfrm>
            <a:off x="0" y="3531336"/>
            <a:ext cx="9144000" cy="180995"/>
            <a:chOff x="1218340" y="275867"/>
            <a:chExt cx="17715122" cy="567843"/>
          </a:xfrm>
        </p:grpSpPr>
        <p:cxnSp>
          <p:nvCxnSpPr>
            <p:cNvPr id="12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0014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597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Operational Modal Analysis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443C2E-38B0-B57A-B7C3-9B56906C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1018"/>
            <a:ext cx="8229600" cy="3944566"/>
          </a:xfrm>
        </p:spPr>
        <p:txBody>
          <a:bodyPr>
            <a:normAutofit/>
          </a:bodyPr>
          <a:lstStyle/>
          <a:p>
            <a:pPr algn="just"/>
            <a:r>
              <a:rPr lang="en-US" sz="1700">
                <a:latin typeface="+mn-lt"/>
                <a:cs typeface="+mn-cs"/>
              </a:rPr>
              <a:t>OMA is a technique used to determine the modal parameters of a structure or a mechanical system under its actual operating conditions. </a:t>
            </a:r>
          </a:p>
          <a:p>
            <a:pPr algn="just"/>
            <a:r>
              <a:rPr lang="en-US" sz="1700">
                <a:latin typeface="+mn-lt"/>
                <a:cs typeface="+mn-cs"/>
              </a:rPr>
              <a:t>Unlike traditional modal analysis, OMA does not require artificial excitation but relies on the natural excitation technique (NeXT), exploiting ambient vibrations or operational forces present in the environment.</a:t>
            </a:r>
          </a:p>
          <a:p>
            <a:pPr algn="just"/>
            <a:endParaRPr lang="en-US" sz="1700">
              <a:latin typeface="+mn-lt"/>
              <a:cs typeface="+mn-cs"/>
            </a:endParaRPr>
          </a:p>
          <a:p>
            <a:pPr algn="just"/>
            <a:r>
              <a:rPr lang="en-US" sz="1700">
                <a:latin typeface="+mn-lt"/>
                <a:cs typeface="+mn-cs"/>
              </a:rPr>
              <a:t>In particular, the results are as good as the following hypothesis are satisfied: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>
                <a:latin typeface="+mn-lt"/>
                <a:cs typeface="+mn-cs"/>
              </a:rPr>
              <a:t>Input forces must be random and uncorrelated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>
                <a:latin typeface="+mn-lt"/>
                <a:cs typeface="+mn-cs"/>
              </a:rPr>
              <a:t>Forcing inputs are assumed to be uniformly distributed in space. </a:t>
            </a:r>
          </a:p>
          <a:p>
            <a:pPr algn="just"/>
            <a:endParaRPr lang="en-US" sz="1700">
              <a:latin typeface="+mn-lt"/>
              <a:cs typeface="+mn-cs"/>
            </a:endParaRPr>
          </a:p>
          <a:p>
            <a:pPr algn="just"/>
            <a:r>
              <a:rPr lang="en-US" sz="1700">
                <a:latin typeface="+mn-lt"/>
                <a:cs typeface="+mn-cs"/>
              </a:rPr>
              <a:t>OMA can be carried out both in frequency domain and in time domain. </a:t>
            </a:r>
          </a:p>
          <a:p>
            <a:pPr algn="just"/>
            <a:r>
              <a:rPr lang="en-US" sz="1700">
                <a:latin typeface="+mn-lt"/>
                <a:cs typeface="+mn-cs"/>
              </a:rPr>
              <a:t>In the following slides the FDD (Frequency Domain Decomposition) algorithm is presented.</a:t>
            </a:r>
          </a:p>
          <a:p>
            <a:pPr algn="just"/>
            <a:endParaRPr lang="en-US" sz="1700">
              <a:latin typeface="+mn-lt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655BF-C48F-8F27-77EC-2D64A053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0657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it-IT"/>
              <a:t>W</a:t>
            </a:r>
            <a:r>
              <a:rPr lang="en-AU" err="1"/>
              <a:t>hy</a:t>
            </a:r>
            <a:r>
              <a:rPr lang="en-AU"/>
              <a:t> OMA is important in health-monitoring of tie-rods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443C2E-38B0-B57A-B7C3-9B56906C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9600"/>
            <a:ext cx="8229600" cy="3666053"/>
          </a:xfrm>
        </p:spPr>
        <p:txBody>
          <a:bodyPr>
            <a:normAutofit/>
          </a:bodyPr>
          <a:lstStyle/>
          <a:p>
            <a:pPr algn="just"/>
            <a:r>
              <a:rPr lang="en-US" sz="1700">
                <a:latin typeface="+mn-lt"/>
                <a:cs typeface="+mn-cs"/>
              </a:rPr>
              <a:t>Structural health monitoring systems are used to determine if an operating structure still meets performance and safety standards despite aging and degradation.</a:t>
            </a:r>
          </a:p>
          <a:p>
            <a:pPr algn="just"/>
            <a:r>
              <a:rPr lang="en-US" sz="1700">
                <a:latin typeface="+mn-lt"/>
                <a:cs typeface="+mn-cs"/>
              </a:rPr>
              <a:t>A reduction in the performances can be caused both by damage or by environmental variations. The main difficulty consists in distinguishing between the two effects</a:t>
            </a:r>
            <a:r>
              <a:rPr lang="it-IT" sz="1700">
                <a:latin typeface="+mn-lt"/>
                <a:cs typeface="+mn-cs"/>
              </a:rPr>
              <a:t>. </a:t>
            </a:r>
            <a:endParaRPr lang="en-US" sz="1700">
              <a:latin typeface="+mn-lt"/>
              <a:cs typeface="+mn-cs"/>
            </a:endParaRPr>
          </a:p>
          <a:p>
            <a:pPr algn="just"/>
            <a:r>
              <a:rPr lang="en-US" sz="1700">
                <a:latin typeface="+mn-lt"/>
                <a:cs typeface="+mn-cs"/>
              </a:rPr>
              <a:t>In particular, this can be done by examining changes in the modal parameters of multiple vibration modes together.</a:t>
            </a:r>
          </a:p>
          <a:p>
            <a:pPr algn="just"/>
            <a:r>
              <a:rPr lang="en-US" sz="1700">
                <a:latin typeface="+mn-lt"/>
                <a:cs typeface="+mn-cs"/>
              </a:rPr>
              <a:t>In order to estimate modal parameters, OMA can be used.</a:t>
            </a:r>
          </a:p>
        </p:txBody>
      </p:sp>
      <p:pic>
        <p:nvPicPr>
          <p:cNvPr id="1026" name="Picture 2" descr="Applied Sciences | Free Full-Text | Determination of Axial Force in Tie Rods  of Historical Buildings Using the Model-Updating Technique">
            <a:extLst>
              <a:ext uri="{FF2B5EF4-FFF2-40B4-BE49-F238E27FC236}">
                <a16:creationId xmlns:a16="http://schemas.microsoft.com/office/drawing/2014/main" id="{FA77390C-C9CF-0BCE-BB2B-9B605DAAA1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" t="2521" r="2074" b="5670"/>
          <a:stretch/>
        </p:blipFill>
        <p:spPr bwMode="auto">
          <a:xfrm>
            <a:off x="1713917" y="3916272"/>
            <a:ext cx="2525383" cy="163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esualdo (Campania, Italy), Chiesa del Santissimo Rosario, tie rods... |  Download Scientific Diagram">
            <a:extLst>
              <a:ext uri="{FF2B5EF4-FFF2-40B4-BE49-F238E27FC236}">
                <a16:creationId xmlns:a16="http://schemas.microsoft.com/office/drawing/2014/main" id="{559A7496-A982-C92F-555C-8577F2728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787" y="3920627"/>
            <a:ext cx="2186056" cy="163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81BF90B6-EA30-0F96-4C83-12617B30AB74}"/>
              </a:ext>
            </a:extLst>
          </p:cNvPr>
          <p:cNvSpPr txBox="1"/>
          <p:nvPr/>
        </p:nvSpPr>
        <p:spPr>
          <a:xfrm>
            <a:off x="2539360" y="5691071"/>
            <a:ext cx="398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Figure: examples of tie-rods applications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8E3C47-6DA3-35FB-0B44-C285036A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792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US"/>
              <a:t>Objectives of the activity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443C2E-38B0-B57A-B7C3-9B56906C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9600"/>
            <a:ext cx="8180962" cy="4525963"/>
          </a:xfrm>
        </p:spPr>
        <p:txBody>
          <a:bodyPr/>
          <a:lstStyle/>
          <a:p>
            <a:pPr algn="just"/>
            <a:r>
              <a:rPr lang="en-US" sz="1700" dirty="0">
                <a:latin typeface="+mn-lt"/>
                <a:cs typeface="+mn-cs"/>
              </a:rPr>
              <a:t>The aims of the activity are reported below:</a:t>
            </a:r>
          </a:p>
          <a:p>
            <a:pPr algn="just"/>
            <a:endParaRPr lang="en-US" sz="1600" dirty="0">
              <a:latin typeface="+mn-lt"/>
              <a:cs typeface="+mn-cs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1700" dirty="0">
                <a:latin typeface="+mn-lt"/>
                <a:cs typeface="+mn-cs"/>
              </a:rPr>
              <a:t>Carry out the Operational Modal Analysis for all the three conditions (healthy, damage 1 and damage 2), i.e. find the eigenfrequencies, the mode shapes and the damping ratios </a:t>
            </a:r>
          </a:p>
          <a:p>
            <a:pPr marL="457200" indent="-457200" algn="just">
              <a:buFont typeface="+mj-lt"/>
              <a:buAutoNum type="arabicPeriod"/>
            </a:pPr>
            <a:endParaRPr lang="en-US" sz="1050" dirty="0">
              <a:latin typeface="+mn-lt"/>
              <a:cs typeface="+mn-cs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1700" dirty="0">
                <a:latin typeface="+mn-lt"/>
                <a:cs typeface="+mn-cs"/>
              </a:rPr>
              <a:t>Compute MAC values in order to compare the mode shapes obtained in different conditions 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CE6CC-9BAF-A217-AA62-92645429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0955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it-IT"/>
              <a:t>Setup </a:t>
            </a:r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9BC38E-EB32-3206-2B60-B37BADE687CB}"/>
                  </a:ext>
                </a:extLst>
              </p:cNvPr>
              <p:cNvSpPr txBox="1"/>
              <p:nvPr/>
            </p:nvSpPr>
            <p:spPr>
              <a:xfrm>
                <a:off x="444835" y="1569600"/>
                <a:ext cx="8254325" cy="2292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700"/>
                  <a:t>The system consists in a clamped-clamped tie-rod, equipped with 4 accelerometers placed at different positions along the structure:</a:t>
                </a:r>
              </a:p>
              <a:p>
                <a:pPr algn="just"/>
                <a:endParaRPr lang="en-US" sz="700"/>
              </a:p>
              <a:p>
                <a:pPr algn="ctr"/>
                <a:r>
                  <a:rPr lang="en-US" sz="1700"/>
                  <a:t>-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700" i="1" smtClean="0"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700"/>
                  <a:t> = 5%           -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700" i="1"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700"/>
                  <a:t> = 33,3 %           -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700" i="1"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700"/>
                  <a:t> = 50 %           -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700" i="1"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700"/>
                  <a:t> = 90%</a:t>
                </a:r>
              </a:p>
              <a:p>
                <a:pPr algn="just"/>
                <a:endParaRPr lang="en-US" sz="1700"/>
              </a:p>
              <a:p>
                <a:pPr algn="just"/>
                <a:r>
                  <a:rPr lang="en-US" sz="1700"/>
                  <a:t>The signal acquisition has been carried out in 3 different situations:</a:t>
                </a:r>
              </a:p>
              <a:p>
                <a:pPr marL="285750" indent="-285750" algn="just">
                  <a:buFontTx/>
                  <a:buChar char="-"/>
                </a:pPr>
                <a:r>
                  <a:rPr lang="en-US" sz="1700"/>
                  <a:t>healthy condition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=512 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en-US" sz="1700"/>
                  <a:t>)</a:t>
                </a:r>
              </a:p>
              <a:p>
                <a:pPr marL="285750" indent="-285750" algn="just">
                  <a:buFontTx/>
                  <a:buChar char="-"/>
                </a:pPr>
                <a:r>
                  <a:rPr lang="en-US" sz="1700"/>
                  <a:t>damage 1 condition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=1024 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en-US" sz="1700"/>
                  <a:t>)</a:t>
                </a:r>
              </a:p>
              <a:p>
                <a:pPr marL="285750" indent="-285750" algn="just">
                  <a:buFontTx/>
                  <a:buChar char="-"/>
                </a:pPr>
                <a:r>
                  <a:rPr lang="en-US" sz="1700"/>
                  <a:t>damage 2 condition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=1024 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en-US" sz="170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9BC38E-EB32-3206-2B60-B37BADE68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35" y="1569600"/>
                <a:ext cx="8254325" cy="2292935"/>
              </a:xfrm>
              <a:prstGeom prst="rect">
                <a:avLst/>
              </a:prstGeom>
              <a:blipFill>
                <a:blip r:embed="rId2"/>
                <a:stretch>
                  <a:fillRect l="-517" t="-796" r="-443" b="-23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137A39E7-0BE6-FED5-DCC6-5EA1546245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1" t="-60" r="-481" b="60"/>
          <a:stretch/>
        </p:blipFill>
        <p:spPr>
          <a:xfrm>
            <a:off x="2713973" y="4278202"/>
            <a:ext cx="3716053" cy="1280098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D60DCD32-2402-6595-16B8-D024E41786E4}"/>
              </a:ext>
            </a:extLst>
          </p:cNvPr>
          <p:cNvSpPr txBox="1"/>
          <p:nvPr/>
        </p:nvSpPr>
        <p:spPr>
          <a:xfrm>
            <a:off x="3395559" y="5670491"/>
            <a:ext cx="2352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experimental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4CEF7-A9F2-D4BC-72EF-5EA05893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1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it-IT"/>
              <a:t>Setup </a:t>
            </a:r>
            <a:endParaRPr lang="en-AU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A0C306D-13B5-A4DC-1AC6-E2A6BFFD50C6}"/>
              </a:ext>
            </a:extLst>
          </p:cNvPr>
          <p:cNvSpPr txBox="1"/>
          <p:nvPr/>
        </p:nvSpPr>
        <p:spPr>
          <a:xfrm>
            <a:off x="667605" y="5055446"/>
            <a:ext cx="3511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/>
              <a:t>Figure</a:t>
            </a:r>
            <a:r>
              <a:rPr lang="en-US" sz="1400" i="1" dirty="0"/>
              <a:t>: signals acquired by the sensors placed at </a:t>
            </a:r>
            <a:r>
              <a:rPr lang="el-GR" sz="1400" i="1" dirty="0"/>
              <a:t>ξ</a:t>
            </a:r>
            <a:r>
              <a:rPr lang="it-IT" sz="1400" i="1" dirty="0"/>
              <a:t> = </a:t>
            </a:r>
            <a:r>
              <a:rPr lang="en-US" sz="1400" i="1" dirty="0"/>
              <a:t>0.05 L</a:t>
            </a:r>
          </a:p>
        </p:txBody>
      </p:sp>
      <p:pic>
        <p:nvPicPr>
          <p:cNvPr id="17" name="Immagine 16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9A61CC6A-A530-56DB-BD83-2EFB3182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2" y="1777364"/>
            <a:ext cx="4339200" cy="325440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8850E51B-EECC-66A3-79F5-776DA7709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821" y="1776218"/>
            <a:ext cx="4340728" cy="3255546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CCDD078F-EC13-EEE4-F4A1-3B726BA4CA6B}"/>
              </a:ext>
            </a:extLst>
          </p:cNvPr>
          <p:cNvSpPr txBox="1"/>
          <p:nvPr/>
        </p:nvSpPr>
        <p:spPr>
          <a:xfrm>
            <a:off x="5003624" y="5055446"/>
            <a:ext cx="3511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/>
              <a:t>Figure: </a:t>
            </a:r>
            <a:r>
              <a:rPr lang="en-US" sz="1400" i="1" dirty="0"/>
              <a:t>signals acquired by the sensors placed at</a:t>
            </a:r>
            <a:r>
              <a:rPr lang="it-IT" sz="1400" i="1" dirty="0"/>
              <a:t> </a:t>
            </a:r>
            <a:r>
              <a:rPr lang="el-GR" sz="1400" i="1" dirty="0"/>
              <a:t>ξ</a:t>
            </a:r>
            <a:r>
              <a:rPr lang="it-IT" sz="1400" i="1" dirty="0"/>
              <a:t> = 0.33 L</a:t>
            </a:r>
            <a:endParaRPr lang="en-US" sz="1400" i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91933-9BE4-E867-B297-54FB6566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809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it-IT"/>
              <a:t>Setup </a:t>
            </a:r>
            <a:endParaRPr lang="en-AU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A0C306D-13B5-A4DC-1AC6-E2A6BFFD50C6}"/>
              </a:ext>
            </a:extLst>
          </p:cNvPr>
          <p:cNvSpPr txBox="1"/>
          <p:nvPr/>
        </p:nvSpPr>
        <p:spPr>
          <a:xfrm>
            <a:off x="666000" y="5054400"/>
            <a:ext cx="3511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/>
              <a:t>Figure: </a:t>
            </a:r>
            <a:r>
              <a:rPr lang="en-US" sz="1400" i="1" dirty="0"/>
              <a:t>signals acquired by the sensors placed at</a:t>
            </a:r>
            <a:r>
              <a:rPr lang="it-IT" sz="1400" i="1" dirty="0"/>
              <a:t> </a:t>
            </a:r>
            <a:r>
              <a:rPr lang="el-GR" sz="1400" i="1" dirty="0"/>
              <a:t>ξ</a:t>
            </a:r>
            <a:r>
              <a:rPr lang="it-IT" sz="1400" i="1" dirty="0"/>
              <a:t> = 0.5 L</a:t>
            </a:r>
            <a:endParaRPr lang="en-US" sz="1400" i="1" dirty="0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98D7A900-E0B5-80E1-2059-502B16CBA5A8}"/>
              </a:ext>
            </a:extLst>
          </p:cNvPr>
          <p:cNvSpPr txBox="1"/>
          <p:nvPr/>
        </p:nvSpPr>
        <p:spPr>
          <a:xfrm>
            <a:off x="4966315" y="5054400"/>
            <a:ext cx="3511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/>
              <a:t>Figure: </a:t>
            </a:r>
            <a:r>
              <a:rPr lang="en-US" sz="1400" i="1" dirty="0"/>
              <a:t>signals acquired by the sensor placed at</a:t>
            </a:r>
            <a:r>
              <a:rPr lang="it-IT" sz="1400" i="1" dirty="0"/>
              <a:t> </a:t>
            </a:r>
            <a:r>
              <a:rPr lang="el-GR" sz="1400" i="1" dirty="0"/>
              <a:t>ξ</a:t>
            </a:r>
            <a:r>
              <a:rPr lang="it-IT" sz="1400" i="1" dirty="0"/>
              <a:t> = 0.9 L</a:t>
            </a:r>
            <a:endParaRPr lang="en-US" sz="1400" i="1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11222AB-91B8-617A-85AB-EB809E3C6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400" y="1774800"/>
            <a:ext cx="4340728" cy="3255546"/>
          </a:xfrm>
          <a:prstGeom prst="rect">
            <a:avLst/>
          </a:prstGeom>
        </p:spPr>
      </p:pic>
      <p:pic>
        <p:nvPicPr>
          <p:cNvPr id="5" name="Immagine 4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DDF9AF56-D186-9EE6-E333-092C009F2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00" y="1778400"/>
            <a:ext cx="4339200" cy="32544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FE415C-FBB8-F3A3-7618-232493D9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3249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Stationarity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443C2E-38B0-B57A-B7C3-9B56906C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74" y="1741107"/>
            <a:ext cx="4186881" cy="41672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AU" sz="1700" dirty="0">
                <a:latin typeface="+mn-lt"/>
                <a:cs typeface="+mn-cs"/>
              </a:rPr>
              <a:t>The power spectral density and the cross spectral density are computed through a proper average process carried out in frequency domain.</a:t>
            </a:r>
            <a:endParaRPr lang="en-AU" sz="1700" dirty="0">
              <a:latin typeface="+mn-lt"/>
              <a:cs typeface="Calibri"/>
            </a:endParaRPr>
          </a:p>
          <a:p>
            <a:pPr algn="just"/>
            <a:r>
              <a:rPr lang="en-AU" sz="1700" dirty="0">
                <a:latin typeface="+mn-lt"/>
                <a:cs typeface="Calibri"/>
              </a:rPr>
              <a:t>This procedure is obtained averaging the cross spectra estimates calculated from each time history obtained subdividing each signal into sub-records, computed using an overlap of 66%.</a:t>
            </a:r>
          </a:p>
          <a:p>
            <a:pPr algn="just"/>
            <a:r>
              <a:rPr lang="en-AU" sz="1700" dirty="0">
                <a:latin typeface="+mn-lt"/>
                <a:cs typeface="+mn-cs"/>
              </a:rPr>
              <a:t>It is possible to do so since all the measured signals are random and stationary. </a:t>
            </a:r>
            <a:endParaRPr lang="en-AU" sz="1700" dirty="0">
              <a:latin typeface="+mn-lt"/>
              <a:cs typeface="Calibri"/>
            </a:endParaRPr>
          </a:p>
          <a:p>
            <a:pPr algn="just"/>
            <a:r>
              <a:rPr lang="en-AU" sz="1700" dirty="0">
                <a:latin typeface="+mn-lt"/>
                <a:cs typeface="+mn-cs"/>
              </a:rPr>
              <a:t>Stationarity of the signals has been checked computing the RMS over the different sub-records.</a:t>
            </a:r>
          </a:p>
          <a:p>
            <a:pPr algn="just"/>
            <a:endParaRPr lang="en-AU" sz="17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7" name="Picture 6" descr="A graph showing different colored circles&#10;&#10;Description automatically generated">
            <a:extLst>
              <a:ext uri="{FF2B5EF4-FFF2-40B4-BE49-F238E27FC236}">
                <a16:creationId xmlns:a16="http://schemas.microsoft.com/office/drawing/2014/main" id="{7BB2F163-2FB7-DE50-5F7F-ACB54CBFB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340" y="1881447"/>
            <a:ext cx="4206487" cy="3154865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C5E2B68B-BE12-737A-E013-0BC7CA94943C}"/>
              </a:ext>
            </a:extLst>
          </p:cNvPr>
          <p:cNvSpPr txBox="1"/>
          <p:nvPr/>
        </p:nvSpPr>
        <p:spPr>
          <a:xfrm>
            <a:off x="5166740" y="5126627"/>
            <a:ext cx="3511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/>
              <a:t>Figure: </a:t>
            </a:r>
            <a:r>
              <a:rPr lang="it-IT" sz="1400" i="1" err="1"/>
              <a:t>stationarity</a:t>
            </a:r>
            <a:r>
              <a:rPr lang="it-IT" sz="1400" i="1"/>
              <a:t> check in </a:t>
            </a:r>
            <a:r>
              <a:rPr lang="it-IT" sz="1400" i="1" err="1"/>
              <a:t>healthy</a:t>
            </a:r>
            <a:r>
              <a:rPr lang="it-IT" sz="1400" i="1"/>
              <a:t> </a:t>
            </a:r>
            <a:r>
              <a:rPr lang="it-IT" sz="1400" i="1" err="1"/>
              <a:t>condition</a:t>
            </a:r>
            <a:endParaRPr lang="en-US" sz="1400" i="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7D59CA-D0CB-AB47-9BF4-19265B52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9818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Stationarity</a:t>
            </a:r>
          </a:p>
        </p:txBody>
      </p:sp>
      <p:pic>
        <p:nvPicPr>
          <p:cNvPr id="8" name="Content Placeholder 7" descr="A graph showing the number of stationary damage&#10;&#10;Description automatically generated">
            <a:extLst>
              <a:ext uri="{FF2B5EF4-FFF2-40B4-BE49-F238E27FC236}">
                <a16:creationId xmlns:a16="http://schemas.microsoft.com/office/drawing/2014/main" id="{ECAFF1EF-BC5D-2A1D-4FCE-18587651E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51389"/>
            <a:ext cx="3959145" cy="2969357"/>
          </a:xfrm>
        </p:spPr>
      </p:pic>
      <p:pic>
        <p:nvPicPr>
          <p:cNvPr id="10" name="Picture 9" descr="A graph showing the number of stationary damage&#10;&#10;Description automatically generated">
            <a:extLst>
              <a:ext uri="{FF2B5EF4-FFF2-40B4-BE49-F238E27FC236}">
                <a16:creationId xmlns:a16="http://schemas.microsoft.com/office/drawing/2014/main" id="{6DE9E486-A8E1-DDF7-90D3-A8DAA1A15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555" y="1951389"/>
            <a:ext cx="3959145" cy="2969357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E767D258-6021-8D8C-1B17-E50DA9ED3AF5}"/>
              </a:ext>
            </a:extLst>
          </p:cNvPr>
          <p:cNvSpPr txBox="1"/>
          <p:nvPr/>
        </p:nvSpPr>
        <p:spPr>
          <a:xfrm>
            <a:off x="4922552" y="5130254"/>
            <a:ext cx="3735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/>
              <a:t>Figure: </a:t>
            </a:r>
            <a:r>
              <a:rPr lang="it-IT" sz="1400" i="1" err="1"/>
              <a:t>stationarity</a:t>
            </a:r>
            <a:r>
              <a:rPr lang="it-IT" sz="1400" i="1"/>
              <a:t> check in </a:t>
            </a:r>
            <a:r>
              <a:rPr lang="it-IT" sz="1400" i="1" err="1"/>
              <a:t>damage</a:t>
            </a:r>
            <a:r>
              <a:rPr lang="it-IT" sz="1400" i="1"/>
              <a:t> 2 </a:t>
            </a:r>
            <a:r>
              <a:rPr lang="it-IT" sz="1400" i="1" err="1"/>
              <a:t>condition</a:t>
            </a:r>
            <a:endParaRPr lang="en-US" sz="1400" i="1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6539FFCD-164C-1FF4-A602-8F42B3388D5E}"/>
              </a:ext>
            </a:extLst>
          </p:cNvPr>
          <p:cNvSpPr txBox="1"/>
          <p:nvPr/>
        </p:nvSpPr>
        <p:spPr>
          <a:xfrm>
            <a:off x="569064" y="5130254"/>
            <a:ext cx="3735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/>
              <a:t>Figure: </a:t>
            </a:r>
            <a:r>
              <a:rPr lang="it-IT" sz="1400" i="1" err="1"/>
              <a:t>stationarity</a:t>
            </a:r>
            <a:r>
              <a:rPr lang="it-IT" sz="1400" i="1"/>
              <a:t> check in </a:t>
            </a:r>
            <a:r>
              <a:rPr lang="it-IT" sz="1400" i="1" err="1"/>
              <a:t>damage</a:t>
            </a:r>
            <a:r>
              <a:rPr lang="it-IT" sz="1400" i="1"/>
              <a:t> 1 </a:t>
            </a:r>
            <a:r>
              <a:rPr lang="it-IT" sz="1400" i="1" err="1"/>
              <a:t>condition</a:t>
            </a:r>
            <a:endParaRPr lang="en-US" sz="1400" i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A5B98-00BD-7B3B-3846-9D9A0529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167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1.  Cross Spectral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7443C2E-38B0-B57A-B7C3-9B56906C1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0136" y="1569600"/>
                <a:ext cx="8323726" cy="45259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AU" sz="1700" dirty="0">
                    <a:latin typeface="+mn-lt"/>
                    <a:cs typeface="+mn-cs"/>
                  </a:rPr>
                  <a:t>The first step in the FDD </a:t>
                </a:r>
                <a:r>
                  <a:rPr lang="en-AU" sz="1700">
                    <a:latin typeface="+mn-lt"/>
                    <a:cs typeface="+mn-cs"/>
                  </a:rPr>
                  <a:t>algorithm</a:t>
                </a:r>
                <a:r>
                  <a:rPr lang="en-AU" sz="1700" dirty="0">
                    <a:latin typeface="+mn-lt"/>
                    <a:cs typeface="+mn-cs"/>
                  </a:rPr>
                  <a:t> consists in expressing the cross spectral density matrix in terms of modal parameters.</a:t>
                </a:r>
              </a:p>
              <a:p>
                <a:pPr algn="just"/>
                <a:r>
                  <a:rPr lang="en-AU" sz="1700" dirty="0">
                    <a:latin typeface="+mn-lt"/>
                    <a:cs typeface="+mn-cs"/>
                  </a:rPr>
                  <a:t>According with the modal approach, the system response can be express as:</a:t>
                </a:r>
              </a:p>
              <a:p>
                <a:pPr marL="228600" indent="-228600" algn="just">
                  <a:buAutoNum type="arabicPeriod"/>
                </a:pPr>
                <a:endParaRPr lang="en-US" sz="900" i="1" dirty="0">
                  <a:latin typeface="Cambria Math" panose="02040503050406030204" pitchFamily="18" charset="0"/>
                  <a:cs typeface="+mn-cs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700" i="1" smtClean="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17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d>
                      <m:r>
                        <a:rPr lang="en-US" sz="1700"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it-IT" sz="1700" dirty="0">
                  <a:latin typeface="+mn-lt"/>
                  <a:cs typeface="+mn-cs"/>
                </a:endParaRPr>
              </a:p>
              <a:p>
                <a:pPr algn="just"/>
                <a:endParaRPr lang="en-US" sz="900" dirty="0">
                  <a:latin typeface="+mn-lt"/>
                  <a:cs typeface="+mn-cs"/>
                </a:endParaRPr>
              </a:p>
              <a:p>
                <a:pPr algn="just"/>
                <a:r>
                  <a:rPr lang="en-AU" sz="1700" dirty="0">
                    <a:latin typeface="+mn-lt"/>
                    <a:cs typeface="+mn-cs"/>
                  </a:rPr>
                  <a:t>Moving to frequency domain applying </a:t>
                </a:r>
                <a:r>
                  <a:rPr lang="en-US" sz="1700" dirty="0">
                    <a:latin typeface="+mn-lt"/>
                    <a:cs typeface="+mn-cs"/>
                  </a:rPr>
                  <a:t>the DFT, we obtain:</a:t>
                </a:r>
              </a:p>
              <a:p>
                <a:pPr algn="just"/>
                <a:endParaRPr lang="en-US" sz="900" dirty="0">
                  <a:latin typeface="+mn-lt"/>
                  <a:cs typeface="+mn-cs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7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en-US" sz="17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>
                          <a:latin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7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AU" sz="1700" dirty="0"/>
              </a:p>
              <a:p>
                <a:pPr algn="just"/>
                <a:endParaRPr lang="en-AU" sz="1100" dirty="0">
                  <a:latin typeface="+mn-lt"/>
                  <a:cs typeface="+mn-cs"/>
                </a:endParaRPr>
              </a:p>
              <a:p>
                <a:pPr algn="just"/>
                <a:r>
                  <a:rPr lang="en-AU" sz="1700" dirty="0">
                    <a:latin typeface="+mn-lt"/>
                    <a:cs typeface="+mn-cs"/>
                  </a:rPr>
                  <a:t>The cross spectral density matrix can be obtained as: </a:t>
                </a:r>
              </a:p>
              <a:p>
                <a:pPr algn="just"/>
                <a:endParaRPr lang="en-AU" sz="900" dirty="0">
                  <a:latin typeface="+mn-lt"/>
                  <a:cs typeface="+mn-cs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7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it-IT" sz="1700" b="0" i="1" smtClean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it-IT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sSup>
                        <m:sSupPr>
                          <m:ctrlPr>
                            <a:rPr lang="it-IT" sz="17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AU" sz="1700" dirty="0">
                  <a:latin typeface="+mn-lt"/>
                  <a:cs typeface="+mn-cs"/>
                </a:endParaRPr>
              </a:p>
              <a:p>
                <a:pPr algn="just"/>
                <a:endParaRPr lang="en-AU" sz="900" dirty="0">
                  <a:latin typeface="+mn-lt"/>
                  <a:cs typeface="+mn-cs"/>
                </a:endParaRPr>
              </a:p>
              <a:p>
                <a:pPr algn="just"/>
                <a:r>
                  <a:rPr lang="en-AU" sz="1700" dirty="0">
                    <a:latin typeface="+mn-lt"/>
                    <a:cs typeface="+mn-cs"/>
                  </a:rPr>
                  <a:t>Switching to modal coordinates we obtain:</a:t>
                </a:r>
              </a:p>
              <a:p>
                <a:pPr algn="just"/>
                <a:endParaRPr lang="en-US" sz="900" dirty="0">
                  <a:latin typeface="+mn-lt"/>
                  <a:cs typeface="+mn-cs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it-IT" sz="1700" b="0" i="1" smtClean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it-IT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it-IT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sSup>
                        <m:sSupPr>
                          <m:ctrlPr>
                            <a:rPr lang="it-IT" sz="17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en-US" sz="1700"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it-IT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sSup>
                        <m:sSupPr>
                          <m:ctrlPr>
                            <a:rPr lang="it-IT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sSup>
                        <m:sSupPr>
                          <m:ctrlPr>
                            <a:rPr lang="en-US" sz="1700" i="1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  <m:sup>
                          <m:r>
                            <a:rPr lang="en-US" sz="1700"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lang="it-IT" sz="1700" b="0" i="1" smtClean="0"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it-IT" sz="1700" b="0" i="1" smtClean="0">
                                  <a:latin typeface="Cambria Math" panose="02040503050406030204" pitchFamily="18" charset="0"/>
                                </a:rPr>
                                <m:t>𝑞𝑞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  <m:sup>
                          <m:r>
                            <a:rPr lang="en-US" sz="170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US" sz="1700" dirty="0">
                  <a:latin typeface="+mn-lt"/>
                  <a:cs typeface="+mn-cs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7443C2E-38B0-B57A-B7C3-9B56906C1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0136" y="1569600"/>
                <a:ext cx="8323726" cy="4525963"/>
              </a:xfrm>
              <a:blipFill>
                <a:blip r:embed="rId3"/>
                <a:stretch>
                  <a:fillRect l="-439" t="-404" r="-4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utoShape 23" descr="{\displaystyle n}">
            <a:extLst>
              <a:ext uri="{FF2B5EF4-FFF2-40B4-BE49-F238E27FC236}">
                <a16:creationId xmlns:a16="http://schemas.microsoft.com/office/drawing/2014/main" id="{A56C5932-202E-5E3D-874B-BD9533C860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4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F4B4A-4DF8-5DBE-4451-F32A8E98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3577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2.  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7443C2E-38B0-B57A-B7C3-9B56906C1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0400" y="1569600"/>
                <a:ext cx="8419050" cy="4525963"/>
              </a:xfrm>
            </p:spPr>
            <p:txBody>
              <a:bodyPr>
                <a:noAutofit/>
              </a:bodyPr>
              <a:lstStyle/>
              <a:p>
                <a:r>
                  <a:rPr lang="en-US" sz="1700">
                    <a:latin typeface="+mn-lt"/>
                    <a:cs typeface="+mn-cs"/>
                  </a:rPr>
                  <a:t>Decomposing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  <m:d>
                          <m:d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it-IT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>
                    <a:latin typeface="+mn-lt"/>
                    <a:cs typeface="+mn-cs"/>
                  </a:rPr>
                  <a:t>using Singular Value Decomposition we obtain:</a:t>
                </a:r>
              </a:p>
              <a:p>
                <a:endParaRPr lang="en-US" sz="700">
                  <a:latin typeface="+mn-lt"/>
                  <a:cs typeface="+mn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it-IT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AU" sz="1700">
                  <a:latin typeface="+mn-lt"/>
                  <a:cs typeface="+mn-cs"/>
                </a:endParaRPr>
              </a:p>
              <a:p>
                <a:endParaRPr lang="en-AU" sz="800">
                  <a:latin typeface="+mn-lt"/>
                  <a:cs typeface="+mn-cs"/>
                </a:endParaRPr>
              </a:p>
              <a:p>
                <a:r>
                  <a:rPr lang="en-AU" sz="1700">
                    <a:latin typeface="+mn-lt"/>
                    <a:cs typeface="+mn-cs"/>
                  </a:rPr>
                  <a:t>where:</a:t>
                </a:r>
              </a:p>
              <a:p>
                <a:endParaRPr lang="en-AU" sz="700">
                  <a:latin typeface="+mn-lt"/>
                  <a:cs typeface="+mn-cs"/>
                </a:endParaRPr>
              </a:p>
              <a:p>
                <a:r>
                  <a:rPr lang="en-AU" sz="1700">
                    <a:latin typeface="+mn-lt"/>
                    <a:cs typeface="+mn-cs"/>
                  </a:rPr>
                  <a:t>  -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700" i="1" smtClean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𝑈</m:t>
                            </m:r>
                          </m:e>
                        </m:d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  <m:r>
                      <a:rPr lang="it-IT" sz="1700" b="0" i="1" smtClean="0"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i="1" smtClean="0"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700" i="1" smtClean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it-IT" sz="1700" b="0" i="1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  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it-IT" sz="17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   …  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it-IT" sz="17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AU" sz="1700">
                  <a:latin typeface="+mn-lt"/>
                  <a:cs typeface="+mn-cs"/>
                </a:endParaRPr>
              </a:p>
              <a:p>
                <a:endParaRPr lang="en-AU" sz="700">
                  <a:latin typeface="+mn-lt"/>
                  <a:cs typeface="+mn-cs"/>
                </a:endParaRPr>
              </a:p>
              <a:p>
                <a:r>
                  <a:rPr lang="en-AU" sz="1700">
                    <a:latin typeface="+mn-lt"/>
                    <a:cs typeface="+mn-cs"/>
                  </a:rPr>
                  <a:t>  -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700" i="1" smtClean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𝑆</m:t>
                            </m:r>
                          </m:e>
                        </m:d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  <m:r>
                      <a:rPr lang="it-IT" sz="1700" b="0" i="1" smtClean="0"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𝑞𝑞</m:t>
                            </m:r>
                          </m:sub>
                        </m:sSub>
                        <m:d>
                          <m:d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7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7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7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7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AU" sz="1700">
                  <a:latin typeface="+mn-lt"/>
                  <a:cs typeface="+mn-cs"/>
                </a:endParaRPr>
              </a:p>
              <a:p>
                <a:endParaRPr lang="en-AU" sz="700">
                  <a:latin typeface="+mn-lt"/>
                  <a:cs typeface="+mn-cs"/>
                </a:endParaRPr>
              </a:p>
              <a:p>
                <a:r>
                  <a:rPr lang="en-AU" sz="1700">
                    <a:latin typeface="+mn-lt"/>
                    <a:cs typeface="+mn-cs"/>
                  </a:rPr>
                  <a:t>  -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700" i="1" smtClean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  <a:cs typeface="+mn-cs"/>
                              </a:rPr>
                              <m:t>𝑉</m:t>
                            </m:r>
                          </m:e>
                        </m:d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lang="it-IT" sz="1700" b="0" i="1" smtClean="0"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  <m:r>
                      <a:rPr lang="it-IT" sz="1700" b="0" i="1" smtClean="0"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  <m:sup>
                        <m:r>
                          <a:rPr lang="en-US" sz="1700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it-IT" sz="17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  <m:sup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70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it-IT" sz="17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it-IT" sz="17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  <m:e>
                            <m:eqArr>
                              <m:eqArr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p>
                                  <m:sSupPr>
                                    <m:ctrlP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it-IT" sz="17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it-IT" sz="17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it-IT" sz="17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it-IT" sz="17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eqArr>
                          </m:e>
                        </m:eqArr>
                      </m:e>
                    </m:d>
                  </m:oMath>
                </a14:m>
                <a:r>
                  <a:rPr lang="en-US" sz="1700">
                    <a:latin typeface="+mn-lt"/>
                    <a:cs typeface="+mn-cs"/>
                  </a:rPr>
                  <a:t>		(assuming real mode shapes)</a:t>
                </a:r>
                <a:endParaRPr lang="en-AU" sz="1700">
                  <a:latin typeface="+mn-lt"/>
                  <a:cs typeface="+mn-cs"/>
                </a:endParaRPr>
              </a:p>
              <a:p>
                <a:endParaRPr lang="en-AU" sz="1800"/>
              </a:p>
              <a:p>
                <a:endParaRPr lang="en-AU" sz="180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7443C2E-38B0-B57A-B7C3-9B56906C1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0400" y="1569600"/>
                <a:ext cx="8419050" cy="4525963"/>
              </a:xfrm>
              <a:blipFill>
                <a:blip r:embed="rId2"/>
                <a:stretch>
                  <a:fillRect l="-43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E35B4-C057-8E1F-1B0B-8710A991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85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3.  Singular value curves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443C2E-38B0-B57A-B7C3-9B56906C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00" y="1569600"/>
            <a:ext cx="8342876" cy="4603436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>
                <a:latin typeface="+mn-lt"/>
                <a:cs typeface="+mn-cs"/>
              </a:rPr>
              <a:t>Singular value decomposition must be carried out frequency by frequency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err="1">
                <a:latin typeface="+mn-lt"/>
                <a:cs typeface="+mn-cs"/>
              </a:rPr>
              <a:t>S.v.</a:t>
            </a:r>
            <a:r>
              <a:rPr lang="en-US" sz="1700">
                <a:latin typeface="+mn-lt"/>
                <a:cs typeface="+mn-cs"/>
              </a:rPr>
              <a:t> curves show peaks around resonances (approximation to SDOF systems)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>
                <a:latin typeface="+mn-lt"/>
                <a:cs typeface="+mn-cs"/>
              </a:rPr>
              <a:t>Results are shown for different time window lengths</a:t>
            </a:r>
            <a:r>
              <a:rPr lang="it-IT" sz="1700">
                <a:latin typeface="+mn-lt"/>
                <a:cs typeface="+mn-cs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n-US" sz="1700">
              <a:latin typeface="+mn-lt"/>
              <a:cs typeface="+mn-cs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700">
              <a:latin typeface="+mn-lt"/>
              <a:cs typeface="+mn-cs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AU" sz="700">
              <a:latin typeface="+mn-lt"/>
              <a:cs typeface="+mn-cs"/>
            </a:endParaRPr>
          </a:p>
          <a:p>
            <a:pPr algn="just"/>
            <a:endParaRPr lang="en-AU" sz="1800"/>
          </a:p>
        </p:txBody>
      </p:sp>
      <p:pic>
        <p:nvPicPr>
          <p:cNvPr id="14" name="Immagine 13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4E36E667-A8D8-A725-4845-E9BA4F53B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206" y="2724741"/>
            <a:ext cx="3695999" cy="2772000"/>
          </a:xfrm>
          <a:prstGeom prst="rect">
            <a:avLst/>
          </a:prstGeom>
        </p:spPr>
      </p:pic>
      <p:pic>
        <p:nvPicPr>
          <p:cNvPr id="17" name="Immagine 1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11EEBABB-8D9C-461D-2911-EDCA78847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97" y="2725200"/>
            <a:ext cx="3695999" cy="27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15D4EEC3-937B-024D-0BDA-8B0CE2084DAB}"/>
                  </a:ext>
                </a:extLst>
              </p:cNvPr>
              <p:cNvSpPr txBox="1"/>
              <p:nvPr/>
            </p:nvSpPr>
            <p:spPr>
              <a:xfrm>
                <a:off x="858172" y="5591609"/>
                <a:ext cx="33332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400" i="1"/>
                  <a:t>Figure</a:t>
                </a:r>
                <a:r>
                  <a:rPr lang="en-US" sz="1400" i="1"/>
                  <a:t>: singular value curves,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=150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i="1"/>
              </a:p>
            </p:txBody>
          </p:sp>
        </mc:Choice>
        <mc:Fallback xmlns=""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15D4EEC3-937B-024D-0BDA-8B0CE2084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72" y="5591609"/>
                <a:ext cx="3333247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DE53FAC-2327-A9BF-7AAB-4349B8070D5A}"/>
                  </a:ext>
                </a:extLst>
              </p:cNvPr>
              <p:cNvSpPr txBox="1"/>
              <p:nvPr/>
            </p:nvSpPr>
            <p:spPr>
              <a:xfrm>
                <a:off x="4952581" y="5591609"/>
                <a:ext cx="33332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400" i="1"/>
                  <a:t>Figure</a:t>
                </a:r>
                <a:r>
                  <a:rPr lang="en-US" sz="1400" i="1"/>
                  <a:t>: singular value curves,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=30 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i="1"/>
              </a:p>
            </p:txBody>
          </p:sp>
        </mc:Choice>
        <mc:Fallback xmlns="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DE53FAC-2327-A9BF-7AAB-4349B8070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581" y="5591609"/>
                <a:ext cx="3333247" cy="307777"/>
              </a:xfrm>
              <a:prstGeom prst="rect">
                <a:avLst/>
              </a:prstGeom>
              <a:blipFill>
                <a:blip r:embed="rId6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3CB09-E813-5BC6-3899-F2474FF2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734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3.  Singular value curves</a:t>
            </a:r>
          </a:p>
        </p:txBody>
      </p:sp>
      <p:pic>
        <p:nvPicPr>
          <p:cNvPr id="7" name="Immagine 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2CB24B0A-AA8B-003A-341A-BCAEFDF1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02" y="1917808"/>
            <a:ext cx="4084799" cy="3063600"/>
          </a:xfrm>
          <a:prstGeom prst="rect">
            <a:avLst/>
          </a:prstGeom>
        </p:spPr>
      </p:pic>
      <p:pic>
        <p:nvPicPr>
          <p:cNvPr id="11" name="Immagine 10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8578F145-A440-32C9-EB6F-216D80339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00" y="1917808"/>
            <a:ext cx="4084800" cy="306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7">
                <a:extLst>
                  <a:ext uri="{FF2B5EF4-FFF2-40B4-BE49-F238E27FC236}">
                    <a16:creationId xmlns:a16="http://schemas.microsoft.com/office/drawing/2014/main" id="{A9476BE7-3806-D819-3C2E-9B1870AD39B1}"/>
                  </a:ext>
                </a:extLst>
              </p:cNvPr>
              <p:cNvSpPr txBox="1"/>
              <p:nvPr/>
            </p:nvSpPr>
            <p:spPr>
              <a:xfrm>
                <a:off x="864136" y="5110579"/>
                <a:ext cx="33332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400" i="1"/>
                  <a:t>Figure</a:t>
                </a:r>
                <a:r>
                  <a:rPr lang="en-US" sz="1400" i="1"/>
                  <a:t>: singular value curves,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=150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i="1"/>
              </a:p>
            </p:txBody>
          </p:sp>
        </mc:Choice>
        <mc:Fallback xmlns="">
          <p:sp>
            <p:nvSpPr>
              <p:cNvPr id="3" name="TextBox 7">
                <a:extLst>
                  <a:ext uri="{FF2B5EF4-FFF2-40B4-BE49-F238E27FC236}">
                    <a16:creationId xmlns:a16="http://schemas.microsoft.com/office/drawing/2014/main" id="{A9476BE7-3806-D819-3C2E-9B1870AD3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136" y="5110579"/>
                <a:ext cx="3333247" cy="30777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E7783414-B149-CD46-4E95-090E801FE494}"/>
                  </a:ext>
                </a:extLst>
              </p:cNvPr>
              <p:cNvSpPr txBox="1"/>
              <p:nvPr/>
            </p:nvSpPr>
            <p:spPr>
              <a:xfrm>
                <a:off x="5024576" y="5110578"/>
                <a:ext cx="33332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400" i="1"/>
                  <a:t>Figure</a:t>
                </a:r>
                <a:r>
                  <a:rPr lang="en-US" sz="1400" i="1"/>
                  <a:t>: singular value curves,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=30 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i="1"/>
              </a:p>
            </p:txBody>
          </p:sp>
        </mc:Choice>
        <mc:Fallback xmlns=""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E7783414-B149-CD46-4E95-090E801FE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576" y="5110578"/>
                <a:ext cx="3333247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B0091-5790-0713-4717-51D978AE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4634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3.  Singular value curves</a:t>
            </a:r>
          </a:p>
        </p:txBody>
      </p:sp>
      <p:pic>
        <p:nvPicPr>
          <p:cNvPr id="14" name="Immagine 13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B528677D-31A3-E04C-37F6-FCDD97B0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0" y="1918800"/>
            <a:ext cx="4084800" cy="3063600"/>
          </a:xfrm>
          <a:prstGeom prst="rect">
            <a:avLst/>
          </a:prstGeom>
        </p:spPr>
      </p:pic>
      <p:pic>
        <p:nvPicPr>
          <p:cNvPr id="6" name="Immagine 5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AD7D75E7-1123-AE0E-66EB-A0BC13FD5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802" y="1918800"/>
            <a:ext cx="4084800" cy="306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A25473-1D2C-F0F1-4577-C4BECB2FA700}"/>
                  </a:ext>
                </a:extLst>
              </p:cNvPr>
              <p:cNvSpPr txBox="1"/>
              <p:nvPr/>
            </p:nvSpPr>
            <p:spPr>
              <a:xfrm>
                <a:off x="5024579" y="5112000"/>
                <a:ext cx="33332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400" i="1"/>
                  <a:t>Figure</a:t>
                </a:r>
                <a:r>
                  <a:rPr lang="en-US" sz="1400" i="1"/>
                  <a:t>: singular value curves,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=30 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i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A25473-1D2C-F0F1-4577-C4BECB2F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579" y="5112000"/>
                <a:ext cx="3333247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D8E1F3A9-85E2-3E3B-51D2-AF02144239D7}"/>
                  </a:ext>
                </a:extLst>
              </p:cNvPr>
              <p:cNvSpPr txBox="1"/>
              <p:nvPr/>
            </p:nvSpPr>
            <p:spPr>
              <a:xfrm>
                <a:off x="864000" y="5112000"/>
                <a:ext cx="33332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400" i="1"/>
                  <a:t>Figure</a:t>
                </a:r>
                <a:r>
                  <a:rPr lang="en-US" sz="1400" i="1"/>
                  <a:t>: singular value curves,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=150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i="1"/>
              </a:p>
            </p:txBody>
          </p:sp>
        </mc:Choice>
        <mc:Fallback xmlns=""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D8E1F3A9-85E2-3E3B-51D2-AF0214423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00" y="5112000"/>
                <a:ext cx="3333247" cy="307777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470C-F058-AA66-13AC-A9CE4E14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4636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3.  Singular value curves</a:t>
            </a:r>
          </a:p>
        </p:txBody>
      </p:sp>
      <p:pic>
        <p:nvPicPr>
          <p:cNvPr id="8" name="Immagine 7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00545555-8686-7F16-A09F-CDCE97FC1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00" y="1909072"/>
            <a:ext cx="4084800" cy="3063600"/>
          </a:xfrm>
          <a:prstGeom prst="rect">
            <a:avLst/>
          </a:prstGeom>
        </p:spPr>
      </p:pic>
      <p:pic>
        <p:nvPicPr>
          <p:cNvPr id="10" name="Immagine 9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84CF31CA-F8C5-5AB2-6E9E-FD205AB0B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00" y="1909072"/>
            <a:ext cx="4084800" cy="30636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9EF9FC4C-2288-B3CB-CAE3-B0D1D8239A5A}"/>
              </a:ext>
            </a:extLst>
          </p:cNvPr>
          <p:cNvSpPr txBox="1"/>
          <p:nvPr/>
        </p:nvSpPr>
        <p:spPr>
          <a:xfrm>
            <a:off x="910711" y="5170106"/>
            <a:ext cx="3084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third resonance peak in healthy condition, T = 150 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C23C3B9-DDE2-AEDC-1208-2C79D34F85C2}"/>
              </a:ext>
            </a:extLst>
          </p:cNvPr>
          <p:cNvSpPr txBox="1"/>
          <p:nvPr/>
        </p:nvSpPr>
        <p:spPr>
          <a:xfrm>
            <a:off x="5031565" y="5170106"/>
            <a:ext cx="3319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third resonance peak in healthy condition, T = 30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57E57-80D3-8F05-6A5F-C1685CA6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899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3.  Singular value curves</a:t>
            </a:r>
          </a:p>
        </p:txBody>
      </p:sp>
      <p:pic>
        <p:nvPicPr>
          <p:cNvPr id="16" name="Immagine 15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A7DF5124-0BA3-D2A9-EE50-0F17536BF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02" y="1908000"/>
            <a:ext cx="4084800" cy="3063600"/>
          </a:xfrm>
          <a:prstGeom prst="rect">
            <a:avLst/>
          </a:prstGeom>
        </p:spPr>
      </p:pic>
      <p:pic>
        <p:nvPicPr>
          <p:cNvPr id="19" name="Immagine 18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96981D31-FFB5-A87B-DF74-E9ADFC4E5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00" y="1908000"/>
            <a:ext cx="4084800" cy="30636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ED44E79-AD74-88ED-7457-4C77DBA118DD}"/>
              </a:ext>
            </a:extLst>
          </p:cNvPr>
          <p:cNvSpPr txBox="1"/>
          <p:nvPr/>
        </p:nvSpPr>
        <p:spPr>
          <a:xfrm>
            <a:off x="910800" y="5169600"/>
            <a:ext cx="3319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fourth resonance peak in healthy condition, T = 150 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E170D28-4C6B-CF81-12E7-D4A8D2DEFBC3}"/>
              </a:ext>
            </a:extLst>
          </p:cNvPr>
          <p:cNvSpPr txBox="1"/>
          <p:nvPr/>
        </p:nvSpPr>
        <p:spPr>
          <a:xfrm>
            <a:off x="5031567" y="5169600"/>
            <a:ext cx="3319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fourth resonance peak in healthy condition, T = 30 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853D39-2D5A-C42C-8F4E-1DDB8A1C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561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4.  Eigenfrequencies </a:t>
            </a:r>
            <a:r>
              <a:rPr lang="en-AU" err="1"/>
              <a:t>identificaton</a:t>
            </a:r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103E8CA-569D-F881-3CF0-B636631264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868770"/>
                  </p:ext>
                </p:extLst>
              </p:nvPr>
            </p:nvGraphicFramePr>
            <p:xfrm>
              <a:off x="2144565" y="2584048"/>
              <a:ext cx="485487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1884782328"/>
                        </a:ext>
                      </a:extLst>
                    </a:gridCol>
                    <a:gridCol w="1318290">
                      <a:extLst>
                        <a:ext uri="{9D8B030D-6E8A-4147-A177-3AD203B41FA5}">
                          <a16:colId xmlns:a16="http://schemas.microsoft.com/office/drawing/2014/main" val="3345489042"/>
                        </a:ext>
                      </a:extLst>
                    </a:gridCol>
                    <a:gridCol w="1318290">
                      <a:extLst>
                        <a:ext uri="{9D8B030D-6E8A-4147-A177-3AD203B41FA5}">
                          <a16:colId xmlns:a16="http://schemas.microsoft.com/office/drawing/2014/main" val="2039597898"/>
                        </a:ext>
                      </a:extLst>
                    </a:gridCol>
                    <a:gridCol w="1318290">
                      <a:extLst>
                        <a:ext uri="{9D8B030D-6E8A-4147-A177-3AD203B41FA5}">
                          <a16:colId xmlns:a16="http://schemas.microsoft.com/office/drawing/2014/main" val="55078329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Healthy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Damage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Damage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67211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800" i="1" dirty="0" smtClean="0"/>
                                      <m:t>ω</m:t>
                                    </m:r>
                                  </m:e>
                                  <m:sub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800" b="0"/>
                            <a:t>13.71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14.41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13.46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77985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800" i="1" dirty="0" smtClean="0"/>
                                      <m:t>ω</m:t>
                                    </m:r>
                                  </m:e>
                                  <m:sub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800" b="0"/>
                            <a:t>30.84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32.17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30.60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48088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800" i="1" dirty="0" smtClean="0"/>
                                      <m:t>ω</m:t>
                                    </m:r>
                                  </m:e>
                                  <m:sub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52.76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54.47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52.34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46444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800" i="1" dirty="0" smtClean="0"/>
                                      <m:t>ω</m:t>
                                    </m:r>
                                  </m:e>
                                  <m:sub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i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81.08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83.07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80.44 </a:t>
                          </a:r>
                          <a14:m>
                            <m:oMath xmlns:m="http://schemas.openxmlformats.org/officeDocument/2006/math"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𝐻𝑧</m:t>
                              </m:r>
                            </m:oMath>
                          </a14:m>
                          <a:endParaRPr lang="en-US" sz="1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13744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103E8CA-569D-F881-3CF0-B636631264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868770"/>
                  </p:ext>
                </p:extLst>
              </p:nvPr>
            </p:nvGraphicFramePr>
            <p:xfrm>
              <a:off x="2144565" y="2584048"/>
              <a:ext cx="485487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1884782328"/>
                        </a:ext>
                      </a:extLst>
                    </a:gridCol>
                    <a:gridCol w="1318290">
                      <a:extLst>
                        <a:ext uri="{9D8B030D-6E8A-4147-A177-3AD203B41FA5}">
                          <a16:colId xmlns:a16="http://schemas.microsoft.com/office/drawing/2014/main" val="3345489042"/>
                        </a:ext>
                      </a:extLst>
                    </a:gridCol>
                    <a:gridCol w="1318290">
                      <a:extLst>
                        <a:ext uri="{9D8B030D-6E8A-4147-A177-3AD203B41FA5}">
                          <a16:colId xmlns:a16="http://schemas.microsoft.com/office/drawing/2014/main" val="2039597898"/>
                        </a:ext>
                      </a:extLst>
                    </a:gridCol>
                    <a:gridCol w="1318290">
                      <a:extLst>
                        <a:ext uri="{9D8B030D-6E8A-4147-A177-3AD203B41FA5}">
                          <a16:colId xmlns:a16="http://schemas.microsoft.com/office/drawing/2014/main" val="55078329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Healthy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Damage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/>
                            <a:t>Damage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672118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6" t="-108333" r="-441892" b="-3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8664" t="-108333" r="-201382" b="-3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444" t="-108333" r="-102315" b="-3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8203" t="-108333" r="-1843" b="-3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77985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6" t="-204918" r="-441892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8664" t="-204918" r="-201382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444" t="-204918" r="-102315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8203" t="-204918" r="-1843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48088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6" t="-310000" r="-44189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8664" t="-310000" r="-20138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444" t="-310000" r="-10231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8203" t="-310000" r="-1843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46444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6" t="-410000" r="-44189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8664" t="-410000" r="-20138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444" t="-410000" r="-10231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8203" t="-410000" r="-1843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3744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7">
                <a:extLst>
                  <a:ext uri="{FF2B5EF4-FFF2-40B4-BE49-F238E27FC236}">
                    <a16:creationId xmlns:a16="http://schemas.microsoft.com/office/drawing/2014/main" id="{805FF5C8-F75A-EF31-222F-A2A8E989605A}"/>
                  </a:ext>
                </a:extLst>
              </p:cNvPr>
              <p:cNvSpPr txBox="1"/>
              <p:nvPr/>
            </p:nvSpPr>
            <p:spPr>
              <a:xfrm>
                <a:off x="456885" y="1569600"/>
                <a:ext cx="8230225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700"/>
                  <a:t>The eigenfrequencies have been obtained looking at the peaks of the singular value curves, resulting in the following values:</a:t>
                </a:r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endParaRPr lang="en-US" sz="1700"/>
              </a:p>
              <a:p>
                <a:pPr algn="just"/>
                <a:r>
                  <a:rPr lang="en-US" sz="1700"/>
                  <a:t>Once the natural frequencies have been identified, it is possible to obtain the mode shape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it-IT" sz="17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700"/>
                  <a:t> by simply </a:t>
                </a:r>
                <a:r>
                  <a:rPr lang="it-IT" sz="1700" err="1"/>
                  <a:t>extracting</a:t>
                </a:r>
                <a:r>
                  <a:rPr lang="it-IT" sz="1700"/>
                  <a:t> </a:t>
                </a:r>
                <a:r>
                  <a:rPr lang="en-AU" sz="1700"/>
                  <a:t>the first column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AU" sz="1700"/>
                  <a:t> when </a:t>
                </a:r>
                <a14:m>
                  <m:oMath xmlns:m="http://schemas.openxmlformats.org/officeDocument/2006/math">
                    <m:r>
                      <a:rPr lang="en-AU" sz="17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AU" sz="1700"/>
              </a:p>
              <a:p>
                <a:pPr algn="just"/>
                <a:endParaRPr lang="en-US" sz="1700"/>
              </a:p>
            </p:txBody>
          </p:sp>
        </mc:Choice>
        <mc:Fallback xmlns="">
          <p:sp>
            <p:nvSpPr>
              <p:cNvPr id="11" name="TextBox 7">
                <a:extLst>
                  <a:ext uri="{FF2B5EF4-FFF2-40B4-BE49-F238E27FC236}">
                    <a16:creationId xmlns:a16="http://schemas.microsoft.com/office/drawing/2014/main" id="{805FF5C8-F75A-EF31-222F-A2A8E9896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85" y="1569600"/>
                <a:ext cx="8230225" cy="4278094"/>
              </a:xfrm>
              <a:prstGeom prst="rect">
                <a:avLst/>
              </a:prstGeom>
              <a:blipFill>
                <a:blip r:embed="rId3"/>
                <a:stretch>
                  <a:fillRect l="-519" t="-427" r="-44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96848-49E0-E495-DF29-5D95A1262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9612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5.  Mode shapes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19FD3D33-386D-8DF4-36F5-045CEE917B93}"/>
              </a:ext>
            </a:extLst>
          </p:cNvPr>
          <p:cNvSpPr txBox="1"/>
          <p:nvPr/>
        </p:nvSpPr>
        <p:spPr>
          <a:xfrm>
            <a:off x="1208569" y="4978315"/>
            <a:ext cx="6726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Mode shapes computed in healthy condition (left), in damage 1 condition (center), and in damage 2 condition (right)</a:t>
            </a:r>
          </a:p>
        </p:txBody>
      </p:sp>
      <p:pic>
        <p:nvPicPr>
          <p:cNvPr id="8" name="Immagine 7" descr="Immagine che contiene linea, diagramma, Diagramma, testo&#10;&#10;Descrizione generata automaticamente">
            <a:extLst>
              <a:ext uri="{FF2B5EF4-FFF2-40B4-BE49-F238E27FC236}">
                <a16:creationId xmlns:a16="http://schemas.microsoft.com/office/drawing/2014/main" id="{D13F46EC-CFBB-C532-FFE2-03D1FFF3D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3" y="2404916"/>
            <a:ext cx="3120000" cy="2340000"/>
          </a:xfrm>
          <a:prstGeom prst="rect">
            <a:avLst/>
          </a:prstGeom>
        </p:spPr>
      </p:pic>
      <p:pic>
        <p:nvPicPr>
          <p:cNvPr id="10" name="Immagine 9" descr="Immagine che contiene linea, diagramma, Diagramma, testo&#10;&#10;Descrizione generata automaticamente">
            <a:extLst>
              <a:ext uri="{FF2B5EF4-FFF2-40B4-BE49-F238E27FC236}">
                <a16:creationId xmlns:a16="http://schemas.microsoft.com/office/drawing/2014/main" id="{5A0D9D93-BC90-2995-B4B5-44BAE68CF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998" y="2404916"/>
            <a:ext cx="3120000" cy="2340000"/>
          </a:xfrm>
          <a:prstGeom prst="rect">
            <a:avLst/>
          </a:prstGeom>
        </p:spPr>
      </p:pic>
      <p:pic>
        <p:nvPicPr>
          <p:cNvPr id="12" name="Immagine 11" descr="Immagine che contiene linea, diagramma, Diagramma, testo&#10;&#10;Descrizione generata automaticamente">
            <a:extLst>
              <a:ext uri="{FF2B5EF4-FFF2-40B4-BE49-F238E27FC236}">
                <a16:creationId xmlns:a16="http://schemas.microsoft.com/office/drawing/2014/main" id="{3C02013E-887B-AC55-F335-35F2C8159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417" y="2404916"/>
            <a:ext cx="3120000" cy="2340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24D59-DA41-A5A6-F734-D6B791E1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2604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5.  Mode shapes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19FD3D33-386D-8DF4-36F5-045CEE917B93}"/>
              </a:ext>
            </a:extLst>
          </p:cNvPr>
          <p:cNvSpPr txBox="1"/>
          <p:nvPr/>
        </p:nvSpPr>
        <p:spPr>
          <a:xfrm>
            <a:off x="1558764" y="5571034"/>
            <a:ext cx="602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comparison </a:t>
            </a:r>
            <a:r>
              <a:rPr lang="en-US" sz="1400" i="1">
                <a:latin typeface="+mn-lt"/>
                <a:cs typeface="+mn-cs"/>
              </a:rPr>
              <a:t>between theoretical and experimental mode shapes</a:t>
            </a:r>
            <a:endParaRPr lang="en-US" sz="1400" i="1"/>
          </a:p>
        </p:txBody>
      </p:sp>
      <p:pic>
        <p:nvPicPr>
          <p:cNvPr id="8" name="Immagine 7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27827438-AFC3-C6B3-A1C9-379451A13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668" y="1728472"/>
            <a:ext cx="4896664" cy="36724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407E1D-9C8E-EBD7-7F10-B0294A81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7370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MAC computation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19FD3D33-386D-8DF4-36F5-045CEE917B93}"/>
              </a:ext>
            </a:extLst>
          </p:cNvPr>
          <p:cNvSpPr txBox="1"/>
          <p:nvPr/>
        </p:nvSpPr>
        <p:spPr>
          <a:xfrm>
            <a:off x="1558764" y="5240295"/>
            <a:ext cx="602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MAC values  </a:t>
            </a:r>
          </a:p>
        </p:txBody>
      </p:sp>
      <p:pic>
        <p:nvPicPr>
          <p:cNvPr id="4" name="Immagine 3" descr="Immagine che contiene diagramma, cubo&#10;&#10;Descrizione generata automaticamente">
            <a:extLst>
              <a:ext uri="{FF2B5EF4-FFF2-40B4-BE49-F238E27FC236}">
                <a16:creationId xmlns:a16="http://schemas.microsoft.com/office/drawing/2014/main" id="{C1C86586-DA50-AD8E-6BE9-4106CEF7D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10" y="2832821"/>
            <a:ext cx="3120000" cy="2340000"/>
          </a:xfrm>
          <a:prstGeom prst="rect">
            <a:avLst/>
          </a:prstGeom>
        </p:spPr>
      </p:pic>
      <p:pic>
        <p:nvPicPr>
          <p:cNvPr id="10" name="Immagine 9" descr="Immagine che contiene diagramma, cubo&#10;&#10;Descrizione generata automaticamente">
            <a:extLst>
              <a:ext uri="{FF2B5EF4-FFF2-40B4-BE49-F238E27FC236}">
                <a16:creationId xmlns:a16="http://schemas.microsoft.com/office/drawing/2014/main" id="{32E707DD-EB30-2163-30DC-E95DDBE9C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998" y="2832821"/>
            <a:ext cx="3120000" cy="2340000"/>
          </a:xfrm>
          <a:prstGeom prst="rect">
            <a:avLst/>
          </a:prstGeom>
        </p:spPr>
      </p:pic>
      <p:pic>
        <p:nvPicPr>
          <p:cNvPr id="7" name="Immagine 6" descr="Immagine che contiene diagramma, cubo&#10;&#10;Descrizione generata automaticamente">
            <a:extLst>
              <a:ext uri="{FF2B5EF4-FFF2-40B4-BE49-F238E27FC236}">
                <a16:creationId xmlns:a16="http://schemas.microsoft.com/office/drawing/2014/main" id="{E0DCFB06-A3B8-5A38-9118-0CCC20E2A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86" y="2832821"/>
            <a:ext cx="3120000" cy="2340000"/>
          </a:xfrm>
          <a:prstGeom prst="rect">
            <a:avLst/>
          </a:prstGeom>
        </p:spPr>
      </p:pic>
      <p:sp>
        <p:nvSpPr>
          <p:cNvPr id="12" name="Segnaposto contenuto 6">
            <a:extLst>
              <a:ext uri="{FF2B5EF4-FFF2-40B4-BE49-F238E27FC236}">
                <a16:creationId xmlns:a16="http://schemas.microsoft.com/office/drawing/2014/main" id="{8E961831-7E36-2854-985F-9DD2ADD9F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94" y="1569600"/>
            <a:ext cx="8282317" cy="1261149"/>
          </a:xfrm>
        </p:spPr>
        <p:txBody>
          <a:bodyPr>
            <a:normAutofit/>
          </a:bodyPr>
          <a:lstStyle/>
          <a:p>
            <a:pPr algn="just"/>
            <a:r>
              <a:rPr lang="en-US" sz="1700">
                <a:latin typeface="+mn-lt"/>
              </a:rPr>
              <a:t>Once </a:t>
            </a:r>
            <a:r>
              <a:rPr lang="it-IT" sz="1700">
                <a:latin typeface="+mn-lt"/>
              </a:rPr>
              <a:t>mode </a:t>
            </a:r>
            <a:r>
              <a:rPr lang="it-IT" sz="1700" err="1">
                <a:latin typeface="+mn-lt"/>
              </a:rPr>
              <a:t>shapes</a:t>
            </a:r>
            <a:r>
              <a:rPr lang="it-IT" sz="1700">
                <a:latin typeface="+mn-lt"/>
              </a:rPr>
              <a:t> </a:t>
            </a:r>
            <a:r>
              <a:rPr lang="it-IT" sz="1700" err="1">
                <a:latin typeface="+mn-lt"/>
              </a:rPr>
              <a:t>have</a:t>
            </a:r>
            <a:r>
              <a:rPr lang="it-IT" sz="1700">
                <a:latin typeface="+mn-lt"/>
              </a:rPr>
              <a:t> </a:t>
            </a:r>
            <a:r>
              <a:rPr lang="it-IT" sz="1700" err="1">
                <a:latin typeface="+mn-lt"/>
              </a:rPr>
              <a:t>been</a:t>
            </a:r>
            <a:r>
              <a:rPr lang="it-IT" sz="1700">
                <a:latin typeface="+mn-lt"/>
              </a:rPr>
              <a:t> </a:t>
            </a:r>
            <a:r>
              <a:rPr lang="it-IT" sz="1700" err="1">
                <a:latin typeface="+mn-lt"/>
              </a:rPr>
              <a:t>extracted</a:t>
            </a:r>
            <a:r>
              <a:rPr lang="it-IT" sz="1700">
                <a:latin typeface="+mn-lt"/>
              </a:rPr>
              <a:t>, </a:t>
            </a:r>
            <a:r>
              <a:rPr lang="it-IT" sz="1700" err="1">
                <a:latin typeface="+mn-lt"/>
              </a:rPr>
              <a:t>it</a:t>
            </a:r>
            <a:r>
              <a:rPr lang="it-IT" sz="1700">
                <a:latin typeface="+mn-lt"/>
              </a:rPr>
              <a:t> </a:t>
            </a:r>
            <a:r>
              <a:rPr lang="it-IT" sz="1700" err="1">
                <a:latin typeface="+mn-lt"/>
              </a:rPr>
              <a:t>is</a:t>
            </a:r>
            <a:r>
              <a:rPr lang="it-IT" sz="1700">
                <a:latin typeface="+mn-lt"/>
              </a:rPr>
              <a:t> </a:t>
            </a:r>
            <a:r>
              <a:rPr lang="it-IT" sz="1700" err="1">
                <a:latin typeface="+mn-lt"/>
              </a:rPr>
              <a:t>possible</a:t>
            </a:r>
            <a:r>
              <a:rPr lang="it-IT" sz="1700">
                <a:latin typeface="+mn-lt"/>
              </a:rPr>
              <a:t> to compute the MAC, </a:t>
            </a:r>
            <a:r>
              <a:rPr lang="it-IT" sz="1700" err="1">
                <a:latin typeface="+mn-lt"/>
              </a:rPr>
              <a:t>comparing</a:t>
            </a:r>
            <a:r>
              <a:rPr lang="it-IT" sz="1700">
                <a:latin typeface="+mn-lt"/>
              </a:rPr>
              <a:t> the </a:t>
            </a:r>
            <a:r>
              <a:rPr lang="it-IT" sz="1700" err="1">
                <a:latin typeface="+mn-lt"/>
              </a:rPr>
              <a:t>modes</a:t>
            </a:r>
            <a:r>
              <a:rPr lang="it-IT" sz="1700">
                <a:latin typeface="+mn-lt"/>
              </a:rPr>
              <a:t> </a:t>
            </a:r>
            <a:r>
              <a:rPr lang="it-IT" sz="1700" err="1">
                <a:latin typeface="+mn-lt"/>
              </a:rPr>
              <a:t>obtained</a:t>
            </a:r>
            <a:r>
              <a:rPr lang="it-IT" sz="1700">
                <a:latin typeface="+mn-lt"/>
              </a:rPr>
              <a:t> in all the 3 </a:t>
            </a:r>
            <a:r>
              <a:rPr lang="it-IT" sz="1700" err="1">
                <a:latin typeface="+mn-lt"/>
              </a:rPr>
              <a:t>conditions</a:t>
            </a:r>
            <a:r>
              <a:rPr lang="it-IT" sz="1700">
                <a:latin typeface="+mn-lt"/>
              </a:rPr>
              <a:t> with the </a:t>
            </a:r>
            <a:r>
              <a:rPr lang="it-IT" sz="1700" err="1">
                <a:latin typeface="+mn-lt"/>
              </a:rPr>
              <a:t>ones</a:t>
            </a:r>
            <a:r>
              <a:rPr lang="it-IT" sz="1700">
                <a:latin typeface="+mn-lt"/>
              </a:rPr>
              <a:t> </a:t>
            </a:r>
            <a:r>
              <a:rPr lang="it-IT" sz="1700" err="1">
                <a:latin typeface="+mn-lt"/>
              </a:rPr>
              <a:t>resulting</a:t>
            </a:r>
            <a:r>
              <a:rPr lang="it-IT" sz="1700">
                <a:latin typeface="+mn-lt"/>
              </a:rPr>
              <a:t> from the </a:t>
            </a:r>
            <a:r>
              <a:rPr lang="it-IT" sz="1700" err="1">
                <a:latin typeface="+mn-lt"/>
              </a:rPr>
              <a:t>healthy</a:t>
            </a:r>
            <a:r>
              <a:rPr lang="it-IT" sz="1700">
                <a:latin typeface="+mn-lt"/>
              </a:rPr>
              <a:t> </a:t>
            </a:r>
            <a:r>
              <a:rPr lang="it-IT" sz="1700" err="1">
                <a:latin typeface="+mn-lt"/>
              </a:rPr>
              <a:t>condition</a:t>
            </a:r>
            <a:r>
              <a:rPr lang="it-IT" sz="1700">
                <a:latin typeface="+mn-lt"/>
              </a:rPr>
              <a:t> </a:t>
            </a:r>
            <a:endParaRPr lang="en-US" sz="170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96BF6F-B59E-7923-AA3B-E2A83C03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3875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FRFs reconstruction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5B1F0A1-3021-5A8A-B11A-C077BE826049}"/>
              </a:ext>
            </a:extLst>
          </p:cNvPr>
          <p:cNvSpPr txBox="1"/>
          <p:nvPr/>
        </p:nvSpPr>
        <p:spPr>
          <a:xfrm>
            <a:off x="2149530" y="5669235"/>
            <a:ext cx="509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reconstruction of the FRFs related to each sensor, healthy</a:t>
            </a:r>
          </a:p>
        </p:txBody>
      </p:sp>
      <p:pic>
        <p:nvPicPr>
          <p:cNvPr id="6" name="Immagine 5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C4FB0FF1-9D02-7AFD-A3C6-F81E7FE6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48" y="1409400"/>
            <a:ext cx="2692800" cy="2019600"/>
          </a:xfrm>
          <a:prstGeom prst="rect">
            <a:avLst/>
          </a:prstGeom>
        </p:spPr>
      </p:pic>
      <p:pic>
        <p:nvPicPr>
          <p:cNvPr id="8" name="Immagine 7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E2545089-410B-3952-E082-6432AAE43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54" y="1409400"/>
            <a:ext cx="2692800" cy="2019600"/>
          </a:xfrm>
          <a:prstGeom prst="rect">
            <a:avLst/>
          </a:prstGeom>
        </p:spPr>
      </p:pic>
      <p:pic>
        <p:nvPicPr>
          <p:cNvPr id="11" name="Immagine 10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E1EC065E-5A2C-ED4C-33A0-BFE5E95D7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548" y="3505944"/>
            <a:ext cx="2692800" cy="2019600"/>
          </a:xfrm>
          <a:prstGeom prst="rect">
            <a:avLst/>
          </a:prstGeom>
        </p:spPr>
      </p:pic>
      <p:pic>
        <p:nvPicPr>
          <p:cNvPr id="13" name="Immagine 12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6AB3687D-D5D1-5E0B-BEC6-B00FB0007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654" y="3505944"/>
            <a:ext cx="2692800" cy="2019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64E3B-5BC6-F738-1CBC-F6CC4693A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5346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FRFs reconstruction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5B1F0A1-3021-5A8A-B11A-C077BE826049}"/>
              </a:ext>
            </a:extLst>
          </p:cNvPr>
          <p:cNvSpPr txBox="1"/>
          <p:nvPr/>
        </p:nvSpPr>
        <p:spPr>
          <a:xfrm>
            <a:off x="2149530" y="5669235"/>
            <a:ext cx="509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reconstruction of the FRFs related to each sensor, damage 1</a:t>
            </a:r>
          </a:p>
        </p:txBody>
      </p:sp>
      <p:pic>
        <p:nvPicPr>
          <p:cNvPr id="7" name="Immagine 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2DABFD9E-2F0F-8FC6-A210-1B699E46B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0" y="1411200"/>
            <a:ext cx="2692800" cy="2019600"/>
          </a:xfrm>
          <a:prstGeom prst="rect">
            <a:avLst/>
          </a:prstGeom>
        </p:spPr>
      </p:pic>
      <p:pic>
        <p:nvPicPr>
          <p:cNvPr id="10" name="Immagine 9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5A73E02D-D166-A9E9-B35F-B0FD8F591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00" y="1411200"/>
            <a:ext cx="2692800" cy="2019600"/>
          </a:xfrm>
          <a:prstGeom prst="rect">
            <a:avLst/>
          </a:prstGeom>
        </p:spPr>
      </p:pic>
      <p:pic>
        <p:nvPicPr>
          <p:cNvPr id="14" name="Immagine 13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3636D50A-FE0E-B50E-0F76-F49677B68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000" y="3506400"/>
            <a:ext cx="2692800" cy="2019600"/>
          </a:xfrm>
          <a:prstGeom prst="rect">
            <a:avLst/>
          </a:prstGeom>
        </p:spPr>
      </p:pic>
      <p:pic>
        <p:nvPicPr>
          <p:cNvPr id="16" name="Immagine 15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D31D3063-7BC3-8692-7E01-F39B2C2F6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00" y="3506400"/>
            <a:ext cx="2692800" cy="2019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9E3CB-C780-912C-F0ED-517963BF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4894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FRFs reconstruction</a:t>
            </a:r>
          </a:p>
        </p:txBody>
      </p:sp>
      <p:pic>
        <p:nvPicPr>
          <p:cNvPr id="7" name="Immagine 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C7616ACC-F376-9126-01B9-5B8A5D1A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200" y="3506400"/>
            <a:ext cx="2692800" cy="2019600"/>
          </a:xfrm>
          <a:prstGeom prst="rect">
            <a:avLst/>
          </a:prstGeom>
        </p:spPr>
      </p:pic>
      <p:pic>
        <p:nvPicPr>
          <p:cNvPr id="10" name="Immagine 9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C7933DE5-003C-0068-220E-F36460FBE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00" y="1411200"/>
            <a:ext cx="2692800" cy="2019600"/>
          </a:xfrm>
          <a:prstGeom prst="rect">
            <a:avLst/>
          </a:prstGeom>
        </p:spPr>
      </p:pic>
      <p:pic>
        <p:nvPicPr>
          <p:cNvPr id="14" name="Immagine 13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2285889A-A743-470F-FF4D-1EB927AE5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200" y="1411200"/>
            <a:ext cx="2692799" cy="2019600"/>
          </a:xfrm>
          <a:prstGeom prst="rect">
            <a:avLst/>
          </a:prstGeom>
        </p:spPr>
      </p:pic>
      <p:pic>
        <p:nvPicPr>
          <p:cNvPr id="16" name="Immagine 15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1CB7C0D2-5525-0E33-5088-F4114DF6E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3506400"/>
            <a:ext cx="2692799" cy="2019600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D04875B-C864-7C12-06F5-A1D5A6998B4A}"/>
              </a:ext>
            </a:extLst>
          </p:cNvPr>
          <p:cNvSpPr txBox="1"/>
          <p:nvPr/>
        </p:nvSpPr>
        <p:spPr>
          <a:xfrm>
            <a:off x="2149530" y="5669235"/>
            <a:ext cx="509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reconstruction of the FRFs related to each sensor, damage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227F6-CBDA-BB7B-0C21-8546A296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4776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Damping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6">
                <a:extLst>
                  <a:ext uri="{FF2B5EF4-FFF2-40B4-BE49-F238E27FC236}">
                    <a16:creationId xmlns:a16="http://schemas.microsoft.com/office/drawing/2014/main" id="{8E29EDE5-94DC-9000-DD5A-F44E9FEFD2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3394" y="1569600"/>
                <a:ext cx="8282317" cy="423179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700" dirty="0">
                    <a:latin typeface="+mn-lt"/>
                  </a:rPr>
                  <a:t>Once both natural frequencies and mode shapes have been properly estimated, modal damping identification procedure has been taken into account.</a:t>
                </a:r>
              </a:p>
              <a:p>
                <a:pPr algn="just"/>
                <a:endParaRPr lang="en-US" sz="1700" dirty="0">
                  <a:latin typeface="+mn-lt"/>
                </a:endParaRPr>
              </a:p>
              <a:p>
                <a:pPr algn="just"/>
                <a:r>
                  <a:rPr lang="en-US" sz="1700" dirty="0">
                    <a:latin typeface="+mn-lt"/>
                  </a:rPr>
                  <a:t>Two methods have been proposed for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700" dirty="0">
                    <a:latin typeface="+mn-lt"/>
                  </a:rPr>
                  <a:t> identification:</a:t>
                </a:r>
              </a:p>
              <a:p>
                <a:pPr algn="just"/>
                <a:endParaRPr lang="en-US" sz="1700" dirty="0">
                  <a:latin typeface="+mn-lt"/>
                </a:endParaRPr>
              </a:p>
              <a:p>
                <a:pPr algn="just"/>
                <a:endParaRPr lang="en-US" sz="1200" dirty="0">
                  <a:latin typeface="+mn-lt"/>
                </a:endParaRPr>
              </a:p>
              <a:p>
                <a:pPr algn="just"/>
                <a:endParaRPr lang="en-US" sz="1700" dirty="0">
                  <a:latin typeface="+mn-lt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+mn-lt"/>
                  </a:rPr>
                  <a:t>Half peak power method: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1700" dirty="0">
                  <a:latin typeface="+mn-lt"/>
                </a:endParaRPr>
              </a:p>
              <a:p>
                <a:pPr algn="just"/>
                <a:endParaRPr lang="en-US" sz="1700" dirty="0">
                  <a:latin typeface="+mn-lt"/>
                </a:endParaRPr>
              </a:p>
              <a:p>
                <a:pPr algn="just"/>
                <a:endParaRPr lang="en-US" sz="1700" dirty="0">
                  <a:latin typeface="+mn-lt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+mn-lt"/>
                  </a:rPr>
                  <a:t>Logarithmic decrement method</a:t>
                </a:r>
              </a:p>
            </p:txBody>
          </p:sp>
        </mc:Choice>
        <mc:Fallback xmlns="">
          <p:sp>
            <p:nvSpPr>
              <p:cNvPr id="3" name="Segnaposto contenuto 6">
                <a:extLst>
                  <a:ext uri="{FF2B5EF4-FFF2-40B4-BE49-F238E27FC236}">
                    <a16:creationId xmlns:a16="http://schemas.microsoft.com/office/drawing/2014/main" id="{8E29EDE5-94DC-9000-DD5A-F44E9FEFD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394" y="1569600"/>
                <a:ext cx="8282317" cy="4231791"/>
              </a:xfrm>
              <a:blipFill>
                <a:blip r:embed="rId2"/>
                <a:stretch>
                  <a:fillRect l="-515" t="-432" r="-5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diagramma, linea, disegno, schizzo&#10;&#10;Descrizione generata automaticamente">
            <a:extLst>
              <a:ext uri="{FF2B5EF4-FFF2-40B4-BE49-F238E27FC236}">
                <a16:creationId xmlns:a16="http://schemas.microsoft.com/office/drawing/2014/main" id="{E5A17577-C11A-AB63-7309-AE3C9B1B54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09" t="931" r="2758" b="18963"/>
          <a:stretch/>
        </p:blipFill>
        <p:spPr>
          <a:xfrm>
            <a:off x="4925979" y="3076830"/>
            <a:ext cx="1245343" cy="127844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0517DF1-4FE2-1317-5F67-3A331AC40E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68" t="3252" r="4918" b="1812"/>
          <a:stretch/>
        </p:blipFill>
        <p:spPr>
          <a:xfrm>
            <a:off x="4892881" y="4560175"/>
            <a:ext cx="1595697" cy="121611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270C7E-BC87-D1EB-EF49-27B45CE3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5085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6">
                <a:extLst>
                  <a:ext uri="{FF2B5EF4-FFF2-40B4-BE49-F238E27FC236}">
                    <a16:creationId xmlns:a16="http://schemas.microsoft.com/office/drawing/2014/main" id="{8E29EDE5-94DC-9000-DD5A-F44E9FEFD2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800" y="1569600"/>
                <a:ext cx="8285143" cy="280784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700" dirty="0">
                    <a:latin typeface="+mn-lt"/>
                  </a:rPr>
                  <a:t>The half peak power method (or peak picking) is a technique commonly used for calculating the system damping using frequency response curves.</a:t>
                </a:r>
              </a:p>
              <a:p>
                <a:pPr algn="just"/>
                <a:r>
                  <a:rPr lang="en-US" sz="1700" dirty="0">
                    <a:latin typeface="+mn-lt"/>
                  </a:rPr>
                  <a:t>According with the OMA approach, since the first singular value curve well approximates the square of the FRF, we can apply the half power method directly on that curve.</a:t>
                </a:r>
                <a:endParaRPr lang="en-US" sz="700" dirty="0">
                  <a:latin typeface="+mn-lt"/>
                </a:endParaRPr>
              </a:p>
              <a:p>
                <a:pPr algn="just"/>
                <a:r>
                  <a:rPr lang="en-US" sz="1700" dirty="0">
                    <a:latin typeface="+mn-lt"/>
                  </a:rPr>
                  <a:t>Thus, considering the singular value curve about each eigenfrequency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it-IT" sz="170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7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170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700" dirty="0">
                    <a:latin typeface="+mn-lt"/>
                  </a:rPr>
                  <a:t> can be estimated as: </a:t>
                </a:r>
                <a:endParaRPr lang="en-US" sz="600" dirty="0">
                  <a:latin typeface="+mn-lt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it-IT" sz="170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it-IT" sz="17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7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it-IT" sz="17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it-IT" sz="1700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700" dirty="0">
                  <a:latin typeface="+mn-lt"/>
                </a:endParaRPr>
              </a:p>
              <a:p>
                <a:pPr algn="just"/>
                <a:endParaRPr lang="en-US" sz="7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egnaposto contenuto 6">
                <a:extLst>
                  <a:ext uri="{FF2B5EF4-FFF2-40B4-BE49-F238E27FC236}">
                    <a16:creationId xmlns:a16="http://schemas.microsoft.com/office/drawing/2014/main" id="{8E29EDE5-94DC-9000-DD5A-F44E9FEFD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800" y="1569600"/>
                <a:ext cx="8285143" cy="2807847"/>
              </a:xfrm>
              <a:blipFill>
                <a:blip r:embed="rId3"/>
                <a:stretch>
                  <a:fillRect l="-515" t="-651" r="-4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18">
                <a:extLst>
                  <a:ext uri="{FF2B5EF4-FFF2-40B4-BE49-F238E27FC236}">
                    <a16:creationId xmlns:a16="http://schemas.microsoft.com/office/drawing/2014/main" id="{06AE51AE-01C9-B7FD-503D-F06C409385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1300874"/>
                  </p:ext>
                </p:extLst>
              </p:nvPr>
            </p:nvGraphicFramePr>
            <p:xfrm>
              <a:off x="2581799" y="4172838"/>
              <a:ext cx="3980402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095342691"/>
                        </a:ext>
                      </a:extLst>
                    </a:gridCol>
                    <a:gridCol w="1086801">
                      <a:extLst>
                        <a:ext uri="{9D8B030D-6E8A-4147-A177-3AD203B41FA5}">
                          <a16:colId xmlns:a16="http://schemas.microsoft.com/office/drawing/2014/main" val="1791376707"/>
                        </a:ext>
                      </a:extLst>
                    </a:gridCol>
                    <a:gridCol w="1075424">
                      <a:extLst>
                        <a:ext uri="{9D8B030D-6E8A-4147-A177-3AD203B41FA5}">
                          <a16:colId xmlns:a16="http://schemas.microsoft.com/office/drawing/2014/main" val="892740676"/>
                        </a:ext>
                      </a:extLst>
                    </a:gridCol>
                    <a:gridCol w="1098177">
                      <a:extLst>
                        <a:ext uri="{9D8B030D-6E8A-4147-A177-3AD203B41FA5}">
                          <a16:colId xmlns:a16="http://schemas.microsoft.com/office/drawing/2014/main" val="2237128966"/>
                        </a:ext>
                      </a:extLst>
                    </a:gridCol>
                  </a:tblGrid>
                  <a:tr h="181695"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Healthy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Damage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Damage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4734807"/>
                      </a:ext>
                    </a:extLst>
                  </a:tr>
                  <a:tr h="3318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it-IT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0.40%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2277858"/>
                      </a:ext>
                    </a:extLst>
                  </a:tr>
                  <a:tr h="3318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it-IT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0.26%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5786588"/>
                      </a:ext>
                    </a:extLst>
                  </a:tr>
                  <a:tr h="3318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it-IT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0.095%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9849398"/>
                      </a:ext>
                    </a:extLst>
                  </a:tr>
                  <a:tr h="3318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it-IT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0.075%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83094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18">
                <a:extLst>
                  <a:ext uri="{FF2B5EF4-FFF2-40B4-BE49-F238E27FC236}">
                    <a16:creationId xmlns:a16="http://schemas.microsoft.com/office/drawing/2014/main" id="{06AE51AE-01C9-B7FD-503D-F06C409385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1300874"/>
                  </p:ext>
                </p:extLst>
              </p:nvPr>
            </p:nvGraphicFramePr>
            <p:xfrm>
              <a:off x="2581799" y="4172838"/>
              <a:ext cx="3980402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095342691"/>
                        </a:ext>
                      </a:extLst>
                    </a:gridCol>
                    <a:gridCol w="1086801">
                      <a:extLst>
                        <a:ext uri="{9D8B030D-6E8A-4147-A177-3AD203B41FA5}">
                          <a16:colId xmlns:a16="http://schemas.microsoft.com/office/drawing/2014/main" val="1791376707"/>
                        </a:ext>
                      </a:extLst>
                    </a:gridCol>
                    <a:gridCol w="1075424">
                      <a:extLst>
                        <a:ext uri="{9D8B030D-6E8A-4147-A177-3AD203B41FA5}">
                          <a16:colId xmlns:a16="http://schemas.microsoft.com/office/drawing/2014/main" val="892740676"/>
                        </a:ext>
                      </a:extLst>
                    </a:gridCol>
                    <a:gridCol w="1098177">
                      <a:extLst>
                        <a:ext uri="{9D8B030D-6E8A-4147-A177-3AD203B41FA5}">
                          <a16:colId xmlns:a16="http://schemas.microsoft.com/office/drawing/2014/main" val="2237128966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Healthy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Damage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Damage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47348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847" t="-103636" r="-457627" b="-3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0.40%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22778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847" t="-200000" r="-457627" b="-2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0.26%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578658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847" t="-305455" r="-457627" b="-1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0.095%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984939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847" t="-405455" r="-457627" b="-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0.12%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0.075%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83094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itolo 1">
            <a:extLst>
              <a:ext uri="{FF2B5EF4-FFF2-40B4-BE49-F238E27FC236}">
                <a16:creationId xmlns:a16="http://schemas.microsoft.com/office/drawing/2014/main" id="{C1CB0924-2B66-2433-320E-B19D1EDA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Half Peak Power method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8E38A9-0E1B-CAE6-5346-E4ADAA0C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2234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showing a normalized frequency&#10;&#10;Description automatically generated with medium confidence">
            <a:extLst>
              <a:ext uri="{FF2B5EF4-FFF2-40B4-BE49-F238E27FC236}">
                <a16:creationId xmlns:a16="http://schemas.microsoft.com/office/drawing/2014/main" id="{E8AEE4A5-E32F-A5CC-E601-61508F14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49" y="1409400"/>
            <a:ext cx="2692799" cy="2019600"/>
          </a:xfrm>
          <a:prstGeom prst="rect">
            <a:avLst/>
          </a:prstGeom>
        </p:spPr>
      </p:pic>
      <p:pic>
        <p:nvPicPr>
          <p:cNvPr id="14" name="Picture 13" descr="A graph showing a normalized value&#10;&#10;Description automatically generated with medium confidence">
            <a:extLst>
              <a:ext uri="{FF2B5EF4-FFF2-40B4-BE49-F238E27FC236}">
                <a16:creationId xmlns:a16="http://schemas.microsoft.com/office/drawing/2014/main" id="{C193129B-45EA-4ABB-0C61-0C1253B2E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587" y="1409400"/>
            <a:ext cx="2692799" cy="2019600"/>
          </a:xfrm>
          <a:prstGeom prst="rect">
            <a:avLst/>
          </a:prstGeom>
        </p:spPr>
      </p:pic>
      <p:pic>
        <p:nvPicPr>
          <p:cNvPr id="16" name="Picture 15" descr="A graph showing a number of values&#10;&#10;Description automatically generated">
            <a:extLst>
              <a:ext uri="{FF2B5EF4-FFF2-40B4-BE49-F238E27FC236}">
                <a16:creationId xmlns:a16="http://schemas.microsoft.com/office/drawing/2014/main" id="{6D7EE90E-7DED-F6F4-5D56-CC1E23D06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614" y="3554651"/>
            <a:ext cx="2692734" cy="2019551"/>
          </a:xfrm>
          <a:prstGeom prst="rect">
            <a:avLst/>
          </a:prstGeom>
        </p:spPr>
      </p:pic>
      <p:pic>
        <p:nvPicPr>
          <p:cNvPr id="18" name="Picture 17" descr="A graph of a normalized frequency&#10;&#10;Description automatically generated with medium confidence">
            <a:extLst>
              <a:ext uri="{FF2B5EF4-FFF2-40B4-BE49-F238E27FC236}">
                <a16:creationId xmlns:a16="http://schemas.microsoft.com/office/drawing/2014/main" id="{AC7EECC3-FE8C-AE5D-0F91-0851073FF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652" y="3554651"/>
            <a:ext cx="2692734" cy="2019551"/>
          </a:xfrm>
          <a:prstGeom prst="rect">
            <a:avLst/>
          </a:prstGeom>
        </p:spPr>
      </p:pic>
      <p:sp>
        <p:nvSpPr>
          <p:cNvPr id="3" name="Segnaposto contenuto 6">
            <a:extLst>
              <a:ext uri="{FF2B5EF4-FFF2-40B4-BE49-F238E27FC236}">
                <a16:creationId xmlns:a16="http://schemas.microsoft.com/office/drawing/2014/main" id="{9F477108-36E7-7734-67CB-5B6B8C6F1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156" y="5677136"/>
            <a:ext cx="6525685" cy="307777"/>
          </a:xfrm>
        </p:spPr>
        <p:txBody>
          <a:bodyPr>
            <a:normAutofit/>
          </a:bodyPr>
          <a:lstStyle/>
          <a:p>
            <a:pPr algn="ctr"/>
            <a:r>
              <a:rPr lang="en-US" sz="1400" i="1">
                <a:latin typeface="+mn-lt"/>
              </a:rPr>
              <a:t>Figure: half peak power method parameters in the resonance peaks, healthy condition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BBCF3FE2-89B7-0442-C01B-7FC0898E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r>
              <a:rPr lang="en-AU"/>
              <a:t>Half Power method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619DD-7AFA-2D3C-0325-9A675CAE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834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pPr algn="just"/>
            <a:r>
              <a:rPr lang="en-US" sz="2400">
                <a:latin typeface="+mn-lt"/>
              </a:rPr>
              <a:t>Logarithmic decrement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1B4972C7-D2A9-8F14-3556-8FEBFBA71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0136" y="1569600"/>
                <a:ext cx="8323726" cy="45259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700">
                    <a:latin typeface="+mn-lt"/>
                  </a:rPr>
                  <a:t>Another method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170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700">
                    <a:latin typeface="+mn-lt"/>
                  </a:rPr>
                  <a:t> exploits the IRFs obtained by restricting the first singular value curves to a SDOF curve and applying the Inverse Fourier Transform. </a:t>
                </a:r>
              </a:p>
              <a:p>
                <a:pPr algn="just"/>
                <a:r>
                  <a:rPr lang="en-US" sz="1700">
                    <a:latin typeface="+mn-lt"/>
                  </a:rPr>
                  <a:t>By measuring the logarithmic decrement between two consecutive peaks it is possible to obtain a damping estimate:</a:t>
                </a:r>
              </a:p>
              <a:p>
                <a:pPr algn="just"/>
                <a:endParaRPr lang="en-US" sz="700">
                  <a:latin typeface="+mn-lt"/>
                </a:endParaRPr>
              </a:p>
              <a:p>
                <a:pPr algn="just"/>
                <a:endParaRPr lang="en-US" sz="700">
                  <a:latin typeface="+mn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7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it-IT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it-IT" sz="170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bSup>
                                    <m:sSubSup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70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  <m:sup>
                                      <m:r>
                                        <a:rPr lang="it-IT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en-US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func>
                    </m:oMath>
                  </m:oMathPara>
                </a14:m>
                <a:endParaRPr lang="en-US" sz="1700">
                  <a:latin typeface="+mn-lt"/>
                </a:endParaRPr>
              </a:p>
              <a:p>
                <a:pPr algn="just"/>
                <a:endParaRPr lang="en-US" sz="900">
                  <a:latin typeface="+mn-lt"/>
                </a:endParaRPr>
              </a:p>
              <a:p>
                <a:pPr algn="just"/>
                <a:r>
                  <a:rPr lang="en-US" sz="1700">
                    <a:latin typeface="+mn-lt"/>
                  </a:rPr>
                  <a:t>In order to have a more reliable result, the values obtained (for each peak) have been exploited as initial guesses for a least square error fitting with an exponential curve:</a:t>
                </a:r>
              </a:p>
              <a:p>
                <a:pPr algn="just"/>
                <a:endParaRPr lang="en-US" sz="900">
                  <a:latin typeface="+mn-lt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it-IT" sz="170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1700">
                  <a:latin typeface="+mn-lt"/>
                </a:endParaRPr>
              </a:p>
              <a:p>
                <a:pPr algn="just"/>
                <a:endParaRPr lang="en-US" sz="900">
                  <a:latin typeface="+mn-lt"/>
                </a:endParaRPr>
              </a:p>
              <a:p>
                <a:pPr algn="just"/>
                <a:r>
                  <a:rPr lang="en-US" sz="1700">
                    <a:latin typeface="+mn-lt"/>
                  </a:rPr>
                  <a:t>However, the results obtained were quite different from the expected ones. </a:t>
                </a:r>
              </a:p>
              <a:p>
                <a:pPr algn="just"/>
                <a:r>
                  <a:rPr lang="en-US" sz="1700">
                    <a:latin typeface="+mn-lt"/>
                  </a:rPr>
                  <a:t>That is due to the imprecise shape of the peaks of the singular value curves, indeed also the obtained IRFs proved to be non reliable.</a:t>
                </a:r>
              </a:p>
            </p:txBody>
          </p:sp>
        </mc:Choice>
        <mc:Fallback xmlns="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1B4972C7-D2A9-8F14-3556-8FEBFBA71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0136" y="1569600"/>
                <a:ext cx="8323726" cy="4525963"/>
              </a:xfrm>
              <a:blipFill>
                <a:blip r:embed="rId2"/>
                <a:stretch>
                  <a:fillRect l="-439" t="-404" r="-4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D863C-A42B-CD5D-661C-14A5EDC6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4991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1833A-F068-E244-1349-4556D1FF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pPr algn="just"/>
            <a:r>
              <a:rPr lang="en-US" sz="2400">
                <a:latin typeface="+mn-lt"/>
              </a:rPr>
              <a:t>Logarithmic decrement method</a:t>
            </a:r>
          </a:p>
        </p:txBody>
      </p:sp>
      <p:pic>
        <p:nvPicPr>
          <p:cNvPr id="9" name="Picture 8" descr="A graph of a signal&#10;&#10;Description automatically generated">
            <a:extLst>
              <a:ext uri="{FF2B5EF4-FFF2-40B4-BE49-F238E27FC236}">
                <a16:creationId xmlns:a16="http://schemas.microsoft.com/office/drawing/2014/main" id="{16AE00BE-A206-F12B-3DB1-031E5DFDB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0" y="1412019"/>
            <a:ext cx="2692800" cy="2019600"/>
          </a:xfrm>
          <a:prstGeom prst="rect">
            <a:avLst/>
          </a:prstGeom>
        </p:spPr>
      </p:pic>
      <p:pic>
        <p:nvPicPr>
          <p:cNvPr id="11" name="Picture 10" descr="A graph of a signal&#10;&#10;Description automatically generated">
            <a:extLst>
              <a:ext uri="{FF2B5EF4-FFF2-40B4-BE49-F238E27FC236}">
                <a16:creationId xmlns:a16="http://schemas.microsoft.com/office/drawing/2014/main" id="{85404B8B-E91D-E77A-C839-6B0B59C19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00" y="3553200"/>
            <a:ext cx="2692801" cy="2019600"/>
          </a:xfrm>
          <a:prstGeom prst="rect">
            <a:avLst/>
          </a:prstGeom>
        </p:spPr>
      </p:pic>
      <p:pic>
        <p:nvPicPr>
          <p:cNvPr id="13" name="Picture 12" descr="A blue graph with white background&#10;&#10;Description automatically generated">
            <a:extLst>
              <a:ext uri="{FF2B5EF4-FFF2-40B4-BE49-F238E27FC236}">
                <a16:creationId xmlns:a16="http://schemas.microsoft.com/office/drawing/2014/main" id="{B3D28EA1-4676-540F-2A5B-73042A14D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200" y="3553200"/>
            <a:ext cx="2692800" cy="2019600"/>
          </a:xfrm>
          <a:prstGeom prst="rect">
            <a:avLst/>
          </a:prstGeom>
        </p:spPr>
      </p:pic>
      <p:pic>
        <p:nvPicPr>
          <p:cNvPr id="15" name="Picture 14" descr="A graph showing a blue triangle&#10;&#10;Description automatically generated">
            <a:extLst>
              <a:ext uri="{FF2B5EF4-FFF2-40B4-BE49-F238E27FC236}">
                <a16:creationId xmlns:a16="http://schemas.microsoft.com/office/drawing/2014/main" id="{53BD87CC-9D78-7CE2-F1FD-6CC4416B1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00" y="1412019"/>
            <a:ext cx="2692799" cy="2019600"/>
          </a:xfrm>
          <a:prstGeom prst="rect">
            <a:avLst/>
          </a:prstGeom>
        </p:spPr>
      </p:pic>
      <p:sp>
        <p:nvSpPr>
          <p:cNvPr id="19" name="Segnaposto contenuto 6">
            <a:extLst>
              <a:ext uri="{FF2B5EF4-FFF2-40B4-BE49-F238E27FC236}">
                <a16:creationId xmlns:a16="http://schemas.microsoft.com/office/drawing/2014/main" id="{98109AD2-8A98-30E5-B6F9-CA5F2B76E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156" y="5677200"/>
            <a:ext cx="6525685" cy="307777"/>
          </a:xfrm>
        </p:spPr>
        <p:txBody>
          <a:bodyPr>
            <a:normAutofit/>
          </a:bodyPr>
          <a:lstStyle/>
          <a:p>
            <a:pPr algn="ctr"/>
            <a:r>
              <a:rPr lang="en-US" sz="1400" i="1">
                <a:latin typeface="+mn-lt"/>
              </a:rPr>
              <a:t>Figure: resonance peaks and corresponding IRFs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F3D0C-FE0D-A408-5D7B-D5782332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26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A796E267-1EF5-6A12-4981-8A4155131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00" y="1569600"/>
            <a:ext cx="8087360" cy="1351280"/>
          </a:xfrm>
        </p:spPr>
        <p:txBody>
          <a:bodyPr>
            <a:normAutofit/>
          </a:bodyPr>
          <a:lstStyle/>
          <a:p>
            <a:pPr algn="just"/>
            <a:r>
              <a:rPr lang="en-US" sz="1700">
                <a:latin typeface="+mn-lt"/>
              </a:rPr>
              <a:t>Once mode shapes and modal parameters are extracted, their variations can be observed for establishing whether the system is damaged or not.</a:t>
            </a:r>
          </a:p>
          <a:p>
            <a:pPr algn="just"/>
            <a:r>
              <a:rPr lang="en-US" sz="1700">
                <a:latin typeface="+mn-lt"/>
              </a:rPr>
              <a:t>The effect of damage can be distinguished from the effect of a change in the environmental conditions by considering together modal parameters of different modes. </a:t>
            </a:r>
          </a:p>
          <a:p>
            <a:endParaRPr lang="en-US" sz="1600"/>
          </a:p>
        </p:txBody>
      </p:sp>
      <p:pic>
        <p:nvPicPr>
          <p:cNvPr id="16" name="Picture 7">
            <a:extLst>
              <a:ext uri="{FF2B5EF4-FFF2-40B4-BE49-F238E27FC236}">
                <a16:creationId xmlns:a16="http://schemas.microsoft.com/office/drawing/2014/main" id="{A840D828-3D96-EFCF-20BC-39350580D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894" y="2937067"/>
            <a:ext cx="2169727" cy="2520000"/>
          </a:xfrm>
          <a:prstGeom prst="rect">
            <a:avLst/>
          </a:prstGeom>
        </p:spPr>
      </p:pic>
      <p:pic>
        <p:nvPicPr>
          <p:cNvPr id="17" name="Picture 10">
            <a:extLst>
              <a:ext uri="{FF2B5EF4-FFF2-40B4-BE49-F238E27FC236}">
                <a16:creationId xmlns:a16="http://schemas.microsoft.com/office/drawing/2014/main" id="{4FB89028-C6A5-0012-92E2-FD8474F9B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381" y="2937600"/>
            <a:ext cx="2184314" cy="2520000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67CE8BD-D3A4-AFD6-B953-68A1105516DA}"/>
              </a:ext>
            </a:extLst>
          </p:cNvPr>
          <p:cNvSpPr txBox="1"/>
          <p:nvPr/>
        </p:nvSpPr>
        <p:spPr>
          <a:xfrm>
            <a:off x="1137824" y="5492711"/>
            <a:ext cx="33126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/>
              <a:t>Figure: eigenfrequencies trend as a function of axial load variation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1FEE08B-FEA6-BBC3-B2B6-AD940DA6623A}"/>
              </a:ext>
            </a:extLst>
          </p:cNvPr>
          <p:cNvSpPr txBox="1"/>
          <p:nvPr/>
        </p:nvSpPr>
        <p:spPr>
          <a:xfrm>
            <a:off x="5066728" y="5492711"/>
            <a:ext cx="2833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Figure: eigenfrequencies trend as a function of damage variation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16E30D0B-1EBC-EAA2-CD83-56D6F25D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pPr algn="just"/>
            <a:r>
              <a:rPr lang="en-US" sz="2400">
                <a:latin typeface="+mn-lt"/>
              </a:rPr>
              <a:t>Conclusions and final remarks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6DE8B2-B344-BF0F-5974-63B7D377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0373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A796E267-1EF5-6A12-4981-8A4155131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36" y="1255159"/>
            <a:ext cx="8323726" cy="4525963"/>
          </a:xfrm>
        </p:spPr>
        <p:txBody>
          <a:bodyPr>
            <a:normAutofit/>
          </a:bodyPr>
          <a:lstStyle/>
          <a:p>
            <a:pPr algn="just"/>
            <a:r>
              <a:rPr lang="en-US" sz="1700">
                <a:latin typeface="+mn-lt"/>
              </a:rPr>
              <a:t> 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DB77BC6-7C70-C666-2056-9FC3BBC8D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798" y="1808479"/>
            <a:ext cx="3088269" cy="34200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15D8875-44DE-CA31-821D-E25F28F3E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111" y="1833679"/>
            <a:ext cx="3288458" cy="33948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2B74A1-B9A9-F59E-DE79-233AF179DB55}"/>
              </a:ext>
            </a:extLst>
          </p:cNvPr>
          <p:cNvSpPr txBox="1"/>
          <p:nvPr/>
        </p:nvSpPr>
        <p:spPr>
          <a:xfrm>
            <a:off x="1332376" y="5257902"/>
            <a:ext cx="2817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MAC trend as a function of axial load variation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73C0124-BC0E-D075-95CB-211974030216}"/>
              </a:ext>
            </a:extLst>
          </p:cNvPr>
          <p:cNvSpPr txBox="1"/>
          <p:nvPr/>
        </p:nvSpPr>
        <p:spPr>
          <a:xfrm>
            <a:off x="4970621" y="5257902"/>
            <a:ext cx="2817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MAC trend as a function of damage variation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D4E7A4BD-9544-A528-3655-CCBC9D21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pPr algn="just"/>
            <a:r>
              <a:rPr lang="en-US" sz="2400">
                <a:latin typeface="+mn-lt"/>
              </a:rPr>
              <a:t>Conclusions and final remarks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AB64A0C-FDD6-31AF-0892-9E558275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8213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diagramma, linea">
            <a:extLst>
              <a:ext uri="{FF2B5EF4-FFF2-40B4-BE49-F238E27FC236}">
                <a16:creationId xmlns:a16="http://schemas.microsoft.com/office/drawing/2014/main" id="{030C3EB4-ECEC-728F-E30F-931B37DF6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193" y="2084390"/>
            <a:ext cx="4771613" cy="2767044"/>
          </a:xfrm>
          <a:prstGeom prst="rect">
            <a:avLst/>
          </a:prstGeom>
        </p:spPr>
      </p:pic>
      <p:sp>
        <p:nvSpPr>
          <p:cNvPr id="4" name="Titolo 1">
            <a:extLst>
              <a:ext uri="{FF2B5EF4-FFF2-40B4-BE49-F238E27FC236}">
                <a16:creationId xmlns:a16="http://schemas.microsoft.com/office/drawing/2014/main" id="{60C9B04E-5787-F53F-7718-AE9792B0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pPr algn="just"/>
            <a:r>
              <a:rPr lang="en-US" sz="2400">
                <a:latin typeface="+mn-lt"/>
              </a:rPr>
              <a:t>Conclusions and final remarks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FA7F6FF-5F42-9FDF-1A3B-34CC420F7C27}"/>
              </a:ext>
            </a:extLst>
          </p:cNvPr>
          <p:cNvSpPr txBox="1"/>
          <p:nvPr/>
        </p:nvSpPr>
        <p:spPr>
          <a:xfrm>
            <a:off x="2144351" y="5147139"/>
            <a:ext cx="4949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baseline for building a machine learning algorithm able to identify damage using MAC values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F35EF2-6EF2-41E5-CD53-05400BC0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5827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F35EF2-6EF2-41E5-CD53-05400BC0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32</a:t>
            </a:fld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5FEB087-123D-69D5-0A20-D5E19A7E47F0}"/>
              </a:ext>
            </a:extLst>
          </p:cNvPr>
          <p:cNvSpPr txBox="1"/>
          <p:nvPr/>
        </p:nvSpPr>
        <p:spPr>
          <a:xfrm>
            <a:off x="1442586" y="5408805"/>
            <a:ext cx="2652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MAC trend between different modes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51C17C0-7443-B8BC-4F68-09C5064A7CD2}"/>
              </a:ext>
            </a:extLst>
          </p:cNvPr>
          <p:cNvSpPr txBox="1"/>
          <p:nvPr/>
        </p:nvSpPr>
        <p:spPr>
          <a:xfrm>
            <a:off x="4730744" y="5409033"/>
            <a:ext cx="3294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/>
              <a:t>Figure: eigenfrequencies shifting in percentage between different modes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9A15633-D799-E95D-4A6A-4750E51D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pPr algn="just"/>
            <a:r>
              <a:rPr lang="en-US" sz="2400">
                <a:latin typeface="+mn-lt"/>
              </a:rPr>
              <a:t>Conclusions and final remarks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E3946A4-A7FD-2260-1ADD-8314A81EC733}"/>
              </a:ext>
            </a:extLst>
          </p:cNvPr>
          <p:cNvSpPr txBox="1"/>
          <p:nvPr/>
        </p:nvSpPr>
        <p:spPr>
          <a:xfrm>
            <a:off x="410400" y="1569600"/>
            <a:ext cx="818885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dirty="0"/>
              <a:t>In the absence of sufficient data and of a properly constructed baseline for sana conditions, the trend of extracted modal parameters can be used just to verify if they’re reliable or not.</a:t>
            </a:r>
            <a:endParaRPr lang="en-US" sz="1700" dirty="0">
              <a:latin typeface="+mn-lt"/>
            </a:endParaRPr>
          </a:p>
        </p:txBody>
      </p:sp>
      <p:pic>
        <p:nvPicPr>
          <p:cNvPr id="12" name="Immagine 11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04F9FB23-B568-B8B3-BD21-A6B12B4E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24" y="2529040"/>
            <a:ext cx="3743999" cy="2808000"/>
          </a:xfrm>
          <a:prstGeom prst="rect">
            <a:avLst/>
          </a:prstGeom>
        </p:spPr>
      </p:pic>
      <p:pic>
        <p:nvPicPr>
          <p:cNvPr id="13" name="Immagine 12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8BA1463D-12A5-E664-BD01-3BE61DA77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076" y="2533904"/>
            <a:ext cx="3744000" cy="28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65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1">
            <a:extLst>
              <a:ext uri="{FF2B5EF4-FFF2-40B4-BE49-F238E27FC236}">
                <a16:creationId xmlns:a16="http://schemas.microsoft.com/office/drawing/2014/main" id="{F3457B0A-EC6D-4D2A-5A33-3E757734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66"/>
            <a:ext cx="8581043" cy="840400"/>
          </a:xfrm>
        </p:spPr>
        <p:txBody>
          <a:bodyPr/>
          <a:lstStyle/>
          <a:p>
            <a:pPr algn="just"/>
            <a:r>
              <a:rPr lang="en-US" sz="2400">
                <a:latin typeface="+mn-lt"/>
              </a:rPr>
              <a:t>Conclusions and final remarks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FDB042A-C984-E02D-3F98-54DC62A9A631}"/>
              </a:ext>
            </a:extLst>
          </p:cNvPr>
          <p:cNvSpPr txBox="1"/>
          <p:nvPr/>
        </p:nvSpPr>
        <p:spPr>
          <a:xfrm>
            <a:off x="410400" y="1569600"/>
            <a:ext cx="81868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/>
              <a:t>Key Advantages in monitoring a tie-rod using Operational Modal Analysis techniques:</a:t>
            </a:r>
          </a:p>
          <a:p>
            <a:pPr algn="just"/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Continuous Health Monitoring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Direct Extraction of Modal Parameters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Enhanced Automation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Early Fault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Cost-Effective and 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3797E-3D06-CB43-6458-4F8E412D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8E31-BA16-44BB-90E1-74D7CFC4FC09}" type="slidenum">
              <a:rPr lang="it-IT" smtClean="0"/>
              <a:pPr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4309787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</Template>
  <TotalTime>91</TotalTime>
  <Words>1652</Words>
  <Application>Microsoft Office PowerPoint</Application>
  <PresentationFormat>Presentazione su schermo (4:3)</PresentationFormat>
  <Paragraphs>280</Paragraphs>
  <Slides>33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9" baseType="lpstr">
      <vt:lpstr>Aptos</vt:lpstr>
      <vt:lpstr>Arial</vt:lpstr>
      <vt:lpstr>Calibri</vt:lpstr>
      <vt:lpstr>Cambria Math</vt:lpstr>
      <vt:lpstr>Wingdings</vt:lpstr>
      <vt:lpstr>POLI</vt:lpstr>
      <vt:lpstr>Operational Modal Analysis of tie-rods</vt:lpstr>
      <vt:lpstr>Operational Modal Analysis </vt:lpstr>
      <vt:lpstr>Why OMA is important in health-monitoring of tie-rods</vt:lpstr>
      <vt:lpstr>Objectives of the activity</vt:lpstr>
      <vt:lpstr>Setup </vt:lpstr>
      <vt:lpstr>Setup </vt:lpstr>
      <vt:lpstr>Setup </vt:lpstr>
      <vt:lpstr>Stationarity</vt:lpstr>
      <vt:lpstr>Stationarity</vt:lpstr>
      <vt:lpstr>1.  Cross Spectral matrix</vt:lpstr>
      <vt:lpstr>2.  Singular Value Decomposition </vt:lpstr>
      <vt:lpstr>3.  Singular value curves</vt:lpstr>
      <vt:lpstr>3.  Singular value curves</vt:lpstr>
      <vt:lpstr>3.  Singular value curves</vt:lpstr>
      <vt:lpstr>3.  Singular value curves</vt:lpstr>
      <vt:lpstr>3.  Singular value curves</vt:lpstr>
      <vt:lpstr>4.  Eigenfrequencies identificaton</vt:lpstr>
      <vt:lpstr>5.  Mode shapes</vt:lpstr>
      <vt:lpstr>5.  Mode shapes</vt:lpstr>
      <vt:lpstr>MAC computation</vt:lpstr>
      <vt:lpstr>FRFs reconstruction</vt:lpstr>
      <vt:lpstr>FRFs reconstruction</vt:lpstr>
      <vt:lpstr>FRFs reconstruction</vt:lpstr>
      <vt:lpstr>Damping estimation</vt:lpstr>
      <vt:lpstr>Half Peak Power method</vt:lpstr>
      <vt:lpstr>Half Power method</vt:lpstr>
      <vt:lpstr>Logarithmic decrement method</vt:lpstr>
      <vt:lpstr>Logarithmic decrement method</vt:lpstr>
      <vt:lpstr>Conclusions and final remarks</vt:lpstr>
      <vt:lpstr>Conclusions and final remarks</vt:lpstr>
      <vt:lpstr>Conclusions and final remarks</vt:lpstr>
      <vt:lpstr>Conclusions and final remarks</vt:lpstr>
      <vt:lpstr>Conclusions and final remarks</vt:lpstr>
    </vt:vector>
  </TitlesOfParts>
  <Company>Area Servizi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Mattia Brambilla</dc:creator>
  <cp:lastModifiedBy>Matteo Filippi</cp:lastModifiedBy>
  <cp:revision>1</cp:revision>
  <dcterms:created xsi:type="dcterms:W3CDTF">2015-05-26T12:27:57Z</dcterms:created>
  <dcterms:modified xsi:type="dcterms:W3CDTF">2024-06-30T08:49:30Z</dcterms:modified>
</cp:coreProperties>
</file>