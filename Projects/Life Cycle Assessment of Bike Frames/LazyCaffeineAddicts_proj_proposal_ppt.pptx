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9"/>
  </p:notesMasterIdLst>
  <p:sldIdLst>
    <p:sldId id="256" r:id="rId5"/>
    <p:sldId id="257" r:id="rId6"/>
    <p:sldId id="261" r:id="rId7"/>
    <p:sldId id="25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ANAND" initials="A" lastIdx="1" clrIdx="0">
    <p:extLst>
      <p:ext uri="{19B8F6BF-5375-455C-9EA6-DF929625EA0E}">
        <p15:presenceInfo xmlns:p15="http://schemas.microsoft.com/office/powerpoint/2012/main" userId="590482132f7f5a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BEBE8"/>
    <a:srgbClr val="E7EAED"/>
    <a:srgbClr val="CCD2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307225-B40E-9B3C-5815-78E0113C8A6C}" v="2" dt="2024-10-26T11:16:17.7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941" autoAdjust="0"/>
  </p:normalViewPr>
  <p:slideViewPr>
    <p:cSldViewPr snapToGrid="0">
      <p:cViewPr>
        <p:scale>
          <a:sx n="50" d="100"/>
          <a:sy n="50" d="100"/>
        </p:scale>
        <p:origin x="126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te Pelle Rietdorf" userId="S::au778435@uni.au.dk::927a3e25-34a4-4625-8fc5-55dace1a0bcf" providerId="AD" clId="Web-{F0307225-B40E-9B3C-5815-78E0113C8A6C}"/>
    <pc:docChg chg="modSld">
      <pc:chgData name="Malte Pelle Rietdorf" userId="S::au778435@uni.au.dk::927a3e25-34a4-4625-8fc5-55dace1a0bcf" providerId="AD" clId="Web-{F0307225-B40E-9B3C-5815-78E0113C8A6C}" dt="2024-10-26T11:16:17.730" v="1" actId="20577"/>
      <pc:docMkLst>
        <pc:docMk/>
      </pc:docMkLst>
      <pc:sldChg chg="modSp">
        <pc:chgData name="Malte Pelle Rietdorf" userId="S::au778435@uni.au.dk::927a3e25-34a4-4625-8fc5-55dace1a0bcf" providerId="AD" clId="Web-{F0307225-B40E-9B3C-5815-78E0113C8A6C}" dt="2024-10-26T11:16:17.730" v="1" actId="20577"/>
        <pc:sldMkLst>
          <pc:docMk/>
          <pc:sldMk cId="109857222" sldId="256"/>
        </pc:sldMkLst>
        <pc:spChg chg="mod">
          <ac:chgData name="Malte Pelle Rietdorf" userId="S::au778435@uni.au.dk::927a3e25-34a4-4625-8fc5-55dace1a0bcf" providerId="AD" clId="Web-{F0307225-B40E-9B3C-5815-78E0113C8A6C}" dt="2024-10-26T11:16:17.730" v="1" actId="20577"/>
          <ac:spMkLst>
            <pc:docMk/>
            <pc:sldMk cId="109857222" sldId="256"/>
            <ac:spMk id="6" creationId="{0705E3B4-17F0-AB12-BDE8-B22B7B3AC14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31AB5B-1D9C-49EF-AE4F-B48CE0B9F179}" type="datetimeFigureOut">
              <a:rPr lang="en-US" smtClean="0"/>
              <a:t>10/26/2024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07A313-689C-4DE3-AB35-160D4F8CA46C}" type="slidenum">
              <a:rPr lang="en-US" smtClean="0"/>
              <a:t>‹#›</a:t>
            </a:fld>
            <a:endParaRPr lang="en-US"/>
          </a:p>
        </p:txBody>
      </p:sp>
    </p:spTree>
    <p:extLst>
      <p:ext uri="{BB962C8B-B14F-4D97-AF65-F5344CB8AC3E}">
        <p14:creationId xmlns:p14="http://schemas.microsoft.com/office/powerpoint/2010/main" val="381471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2800" dirty="0"/>
              <a:t>This comparative life cycle assessment follows a cradle-to-grave approach. It begins with raw material extraction, assessing the production of aluminum for the "Specialized-</a:t>
            </a:r>
            <a:r>
              <a:rPr lang="en-US" sz="2800" dirty="0" err="1"/>
              <a:t>Allez</a:t>
            </a:r>
            <a:r>
              <a:rPr lang="en-US" sz="2800" dirty="0"/>
              <a:t> Sprint" and carbon fiber for the "Specialized-Tarmac SL7.“ It follows manufacturing, then use phase estimated for 10 thousand km. Finally the disposal or recycling step. </a:t>
            </a:r>
            <a:r>
              <a:rPr lang="en-US" sz="2800"/>
              <a:t>Transportations  </a:t>
            </a:r>
            <a:r>
              <a:rPr lang="en-US" sz="2800" dirty="0"/>
              <a:t>will be also modelled. </a:t>
            </a:r>
          </a:p>
          <a:p>
            <a:r>
              <a:rPr lang="en-US" sz="4000" dirty="0"/>
              <a:t>In each phase we will analyze energy use, emissions, waste generation and all possible impacts on the environment. </a:t>
            </a:r>
            <a:endParaRPr lang="en-US" sz="2800" dirty="0"/>
          </a:p>
          <a:p>
            <a:pPr marL="0" indent="0" algn="just">
              <a:lnSpc>
                <a:spcPct val="115000"/>
              </a:lnSpc>
              <a:buFontTx/>
              <a:buNone/>
            </a:pPr>
            <a:endParaRPr lang="en-US" sz="1800" dirty="0">
              <a:effectLst/>
              <a:latin typeface="Times New Roman" panose="02020603050405020304" pitchFamily="18" charset="0"/>
              <a:ea typeface="SimSun" panose="02010600030101010101" pitchFamily="2" charset="-122"/>
            </a:endParaRPr>
          </a:p>
          <a:p>
            <a:endParaRPr lang="en-US" dirty="0"/>
          </a:p>
        </p:txBody>
      </p:sp>
      <p:sp>
        <p:nvSpPr>
          <p:cNvPr id="4" name="Slide Number Placeholder 3"/>
          <p:cNvSpPr>
            <a:spLocks noGrp="1"/>
          </p:cNvSpPr>
          <p:nvPr>
            <p:ph type="sldNum" sz="quarter" idx="5"/>
          </p:nvPr>
        </p:nvSpPr>
        <p:spPr/>
        <p:txBody>
          <a:bodyPr/>
          <a:lstStyle/>
          <a:p>
            <a:fld id="{8D07A313-689C-4DE3-AB35-160D4F8CA46C}" type="slidenum">
              <a:rPr lang="en-US" smtClean="0"/>
              <a:t>2</a:t>
            </a:fld>
            <a:endParaRPr lang="en-US"/>
          </a:p>
        </p:txBody>
      </p:sp>
    </p:spTree>
    <p:extLst>
      <p:ext uri="{BB962C8B-B14F-4D97-AF65-F5344CB8AC3E}">
        <p14:creationId xmlns:p14="http://schemas.microsoft.com/office/powerpoint/2010/main" val="2500470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 conduct this assessment, a rough picture of the impacts of the materials on the environment needs to be understood. </a:t>
            </a:r>
          </a:p>
          <a:p>
            <a:r>
              <a:rPr lang="en-IN" dirty="0"/>
              <a:t>Aluminium – it is highly recyclable, </a:t>
            </a:r>
            <a:r>
              <a:rPr lang="en-US" sz="1800" b="0" i="0" u="none" strike="noStrike" baseline="0" dirty="0">
                <a:solidFill>
                  <a:srgbClr val="000000"/>
                </a:solidFill>
                <a:latin typeface="Times New Roman" panose="02020603050405020304" pitchFamily="18" charset="0"/>
              </a:rPr>
              <a:t>nearly 95% of the energy required to produce new </a:t>
            </a:r>
            <a:r>
              <a:rPr lang="en-US" sz="1800" b="0" i="0" u="none" strike="noStrike" baseline="0" dirty="0" err="1">
                <a:solidFill>
                  <a:srgbClr val="000000"/>
                </a:solidFill>
                <a:latin typeface="Times New Roman" panose="02020603050405020304" pitchFamily="18" charset="0"/>
              </a:rPr>
              <a:t>aluminium</a:t>
            </a:r>
            <a:r>
              <a:rPr lang="en-US" sz="1800" b="0" i="0" u="none" strike="noStrike" baseline="0" dirty="0">
                <a:solidFill>
                  <a:srgbClr val="000000"/>
                </a:solidFill>
                <a:latin typeface="Times New Roman" panose="02020603050405020304" pitchFamily="18" charset="0"/>
              </a:rPr>
              <a:t> can be saved by recycling old </a:t>
            </a:r>
            <a:r>
              <a:rPr lang="en-US" sz="1800" b="0" i="0" u="none" strike="noStrike" baseline="0" dirty="0" err="1">
                <a:solidFill>
                  <a:srgbClr val="000000"/>
                </a:solidFill>
                <a:latin typeface="Times New Roman" panose="02020603050405020304" pitchFamily="18" charset="0"/>
              </a:rPr>
              <a:t>aluminium</a:t>
            </a:r>
            <a:r>
              <a:rPr lang="en-US" sz="1800" b="0" i="0" u="none" strike="noStrike" baseline="0" dirty="0">
                <a:solidFill>
                  <a:srgbClr val="000000"/>
                </a:solidFill>
                <a:latin typeface="Times New Roman" panose="02020603050405020304" pitchFamily="18" charset="0"/>
              </a:rPr>
              <a:t> products</a:t>
            </a:r>
            <a:r>
              <a:rPr lang="en-US" sz="1800" b="0" i="0" u="none" strike="noStrike" baseline="0">
                <a:solidFill>
                  <a:srgbClr val="000000"/>
                </a:solidFill>
                <a:latin typeface="Times New Roman" panose="02020603050405020304" pitchFamily="18" charset="0"/>
              </a:rPr>
              <a:t>. </a:t>
            </a:r>
          </a:p>
          <a:p>
            <a:r>
              <a:rPr lang="en-US" sz="1800" b="0" i="0" u="none" strike="noStrike" baseline="0">
                <a:solidFill>
                  <a:srgbClr val="000000"/>
                </a:solidFill>
                <a:latin typeface="Times New Roman" panose="02020603050405020304" pitchFamily="18" charset="0"/>
              </a:rPr>
              <a:t>But </a:t>
            </a:r>
            <a:r>
              <a:rPr lang="en-US" sz="1800" b="0" i="0" u="none" strike="noStrike" baseline="0" dirty="0">
                <a:solidFill>
                  <a:srgbClr val="000000"/>
                </a:solidFill>
                <a:latin typeface="Times New Roman" panose="02020603050405020304" pitchFamily="18" charset="0"/>
              </a:rPr>
              <a:t>the production of </a:t>
            </a:r>
            <a:r>
              <a:rPr lang="en-US" sz="1800" b="0" i="0" u="none" strike="noStrike" baseline="0" dirty="0" err="1">
                <a:solidFill>
                  <a:srgbClr val="000000"/>
                </a:solidFill>
                <a:latin typeface="Times New Roman" panose="02020603050405020304" pitchFamily="18" charset="0"/>
              </a:rPr>
              <a:t>aluminium</a:t>
            </a:r>
            <a:r>
              <a:rPr lang="en-US" sz="1800" b="0" i="0" u="none" strike="noStrike" baseline="0" dirty="0">
                <a:solidFill>
                  <a:srgbClr val="000000"/>
                </a:solidFill>
                <a:latin typeface="Times New Roman" panose="02020603050405020304" pitchFamily="18" charset="0"/>
              </a:rPr>
              <a:t> from bauxite ore is highly energy intensive. </a:t>
            </a:r>
          </a:p>
          <a:p>
            <a:r>
              <a:rPr lang="en-US" sz="1800" b="0" i="0" u="none" strike="noStrike" baseline="0" dirty="0">
                <a:solidFill>
                  <a:srgbClr val="000000"/>
                </a:solidFill>
                <a:latin typeface="Times New Roman" panose="02020603050405020304" pitchFamily="18" charset="0"/>
              </a:rPr>
              <a:t>On the other hand, the </a:t>
            </a:r>
            <a:r>
              <a:rPr lang="en-US" sz="1800" b="0" i="0" u="none" strike="noStrike" baseline="0" dirty="0" err="1">
                <a:solidFill>
                  <a:srgbClr val="000000"/>
                </a:solidFill>
                <a:latin typeface="Times New Roman" panose="02020603050405020304" pitchFamily="18" charset="0"/>
              </a:rPr>
              <a:t>cf</a:t>
            </a:r>
            <a:r>
              <a:rPr lang="en-US" sz="1800" b="0" i="0" u="none" strike="noStrike" baseline="0" dirty="0">
                <a:solidFill>
                  <a:srgbClr val="000000"/>
                </a:solidFill>
                <a:latin typeface="Times New Roman" panose="02020603050405020304" pitchFamily="18" charset="0"/>
              </a:rPr>
              <a:t> provides significant performance advantages because of its </a:t>
            </a:r>
            <a:r>
              <a:rPr lang="en-US" sz="1800" b="0" i="0" u="none" strike="noStrike" baseline="0" dirty="0" err="1">
                <a:solidFill>
                  <a:srgbClr val="000000"/>
                </a:solidFill>
                <a:latin typeface="Times New Roman" panose="02020603050405020304" pitchFamily="18" charset="0"/>
              </a:rPr>
              <a:t>lighweight</a:t>
            </a:r>
            <a:r>
              <a:rPr lang="en-US" sz="1800" b="0" i="0" u="none" strike="noStrike" baseline="0" dirty="0">
                <a:solidFill>
                  <a:srgbClr val="000000"/>
                </a:solidFill>
                <a:latin typeface="Times New Roman" panose="02020603050405020304" pitchFamily="18" charset="0"/>
              </a:rPr>
              <a:t> and strength. </a:t>
            </a:r>
          </a:p>
          <a:p>
            <a:r>
              <a:rPr lang="en-US" sz="1800" b="0" i="0" u="none" strike="noStrike" baseline="0" dirty="0">
                <a:solidFill>
                  <a:srgbClr val="000000"/>
                </a:solidFill>
                <a:latin typeface="Times New Roman" panose="02020603050405020304" pitchFamily="18" charset="0"/>
              </a:rPr>
              <a:t>But the EOL phase of </a:t>
            </a:r>
            <a:r>
              <a:rPr lang="en-US" sz="1800" b="0" i="0" u="none" strike="noStrike" baseline="0" dirty="0" err="1">
                <a:solidFill>
                  <a:srgbClr val="000000"/>
                </a:solidFill>
                <a:latin typeface="Times New Roman" panose="02020603050405020304" pitchFamily="18" charset="0"/>
              </a:rPr>
              <a:t>cf</a:t>
            </a:r>
            <a:r>
              <a:rPr lang="en-US" sz="1800" b="0" i="0" u="none" strike="noStrike" baseline="0" dirty="0">
                <a:solidFill>
                  <a:srgbClr val="000000"/>
                </a:solidFill>
                <a:latin typeface="Times New Roman" panose="02020603050405020304" pitchFamily="18" charset="0"/>
              </a:rPr>
              <a:t> poses a serious risk. It Is nonbiodegradable and has poor recyclability cos of combining thermosetting substances like epoxy with it. </a:t>
            </a:r>
            <a:endParaRPr lang="en-IN" dirty="0"/>
          </a:p>
        </p:txBody>
      </p:sp>
      <p:sp>
        <p:nvSpPr>
          <p:cNvPr id="4" name="Slide Number Placeholder 3"/>
          <p:cNvSpPr>
            <a:spLocks noGrp="1"/>
          </p:cNvSpPr>
          <p:nvPr>
            <p:ph type="sldNum" sz="quarter" idx="5"/>
          </p:nvPr>
        </p:nvSpPr>
        <p:spPr/>
        <p:txBody>
          <a:bodyPr/>
          <a:lstStyle/>
          <a:p>
            <a:fld id="{8D07A313-689C-4DE3-AB35-160D4F8CA46C}" type="slidenum">
              <a:rPr lang="en-US" smtClean="0"/>
              <a:t>3</a:t>
            </a:fld>
            <a:endParaRPr lang="en-US"/>
          </a:p>
        </p:txBody>
      </p:sp>
    </p:spTree>
    <p:extLst>
      <p:ext uri="{BB962C8B-B14F-4D97-AF65-F5344CB8AC3E}">
        <p14:creationId xmlns:p14="http://schemas.microsoft.com/office/powerpoint/2010/main" val="3588874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nSpc>
                <a:spcPct val="90000"/>
              </a:lnSpc>
              <a:spcBef>
                <a:spcPts val="1000"/>
              </a:spcBef>
            </a:pPr>
            <a:r>
              <a:rPr lang="en-US" dirty="0"/>
              <a:t>In our upcoming LCA, we will assess key environmental impacts such as Global Warming Potential, water footprint, energy use, and waste generation. We expect to identify challenges, particularly the recyclability of carbon fiber compared to aluminum, and the current limited use of recycled aluminum. Transportation is also likely to contribute significantly to the environmental footprint. Our future efforts will focus on improving recycling technologies for carbon fiber and increasing the use of recycled materials in production for both materials. The findings will help guide sustainability practices in other industries using carbon fiber and aluminum.</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8D07A313-689C-4DE3-AB35-160D4F8CA46C}" type="slidenum">
              <a:rPr lang="en-US" smtClean="0"/>
              <a:t>4</a:t>
            </a:fld>
            <a:endParaRPr lang="en-US"/>
          </a:p>
        </p:txBody>
      </p:sp>
    </p:spTree>
    <p:extLst>
      <p:ext uri="{BB962C8B-B14F-4D97-AF65-F5344CB8AC3E}">
        <p14:creationId xmlns:p14="http://schemas.microsoft.com/office/powerpoint/2010/main" val="3718951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846CE7D5-CF57-46EF-B807-FDD0502418D4}" type="datetimeFigureOut">
              <a:rPr lang="en-US" smtClean="0"/>
              <a:t>10/26/2024</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A51A0227-072A-4F5F-928C-E2C3E5CCD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12B7B3B-AFEB-A060-FFFA-B14532622B55}"/>
              </a:ext>
            </a:extLst>
          </p:cNvPr>
          <p:cNvSpPr>
            <a:spLocks noGrp="1"/>
          </p:cNvSpPr>
          <p:nvPr>
            <p:ph type="title"/>
          </p:nvPr>
        </p:nvSpPr>
        <p:spPr>
          <a:xfrm>
            <a:off x="630936" y="4433777"/>
            <a:ext cx="4245864" cy="1722691"/>
          </a:xfrm>
        </p:spPr>
        <p:txBody>
          <a:bodyPr vert="horz" lIns="91440" tIns="45720" rIns="91440" bIns="45720" rtlCol="0" anchor="ctr">
            <a:noAutofit/>
          </a:bodyPr>
          <a:lstStyle/>
          <a:p>
            <a:r>
              <a:rPr lang="en-US" sz="3000" dirty="0"/>
              <a:t>Comparative Life Cycle Assessment of Aluminium and Carbon Fiber Bike Frames</a:t>
            </a:r>
          </a:p>
        </p:txBody>
      </p:sp>
      <p:pic>
        <p:nvPicPr>
          <p:cNvPr id="7" name="Picture 6" descr="A red and black bicycle frame&#10;&#10;Description automatically generated">
            <a:extLst>
              <a:ext uri="{FF2B5EF4-FFF2-40B4-BE49-F238E27FC236}">
                <a16:creationId xmlns:a16="http://schemas.microsoft.com/office/drawing/2014/main" id="{F24521F4-3318-C106-F97B-54DA86839AAC}"/>
              </a:ext>
            </a:extLst>
          </p:cNvPr>
          <p:cNvPicPr>
            <a:picLocks noChangeAspect="1"/>
          </p:cNvPicPr>
          <p:nvPr/>
        </p:nvPicPr>
        <p:blipFill>
          <a:blip r:embed="rId2"/>
          <a:stretch>
            <a:fillRect/>
          </a:stretch>
        </p:blipFill>
        <p:spPr>
          <a:xfrm>
            <a:off x="6914384" y="365530"/>
            <a:ext cx="3483870" cy="3240000"/>
          </a:xfrm>
          <a:prstGeom prst="rect">
            <a:avLst/>
          </a:prstGeom>
        </p:spPr>
      </p:pic>
      <p:pic>
        <p:nvPicPr>
          <p:cNvPr id="8" name="Picture 7" descr="A red bicycle frame with white text&#10;&#10;Description automatically generated">
            <a:extLst>
              <a:ext uri="{FF2B5EF4-FFF2-40B4-BE49-F238E27FC236}">
                <a16:creationId xmlns:a16="http://schemas.microsoft.com/office/drawing/2014/main" id="{443C72B3-02EC-03C8-0287-D03EBD63EEB4}"/>
              </a:ext>
            </a:extLst>
          </p:cNvPr>
          <p:cNvPicPr>
            <a:picLocks noChangeAspect="1"/>
          </p:cNvPicPr>
          <p:nvPr/>
        </p:nvPicPr>
        <p:blipFill>
          <a:blip r:embed="rId3"/>
          <a:srcRect t="1795" b="1795"/>
          <a:stretch/>
        </p:blipFill>
        <p:spPr>
          <a:xfrm>
            <a:off x="1090539" y="365530"/>
            <a:ext cx="4733306" cy="3240000"/>
          </a:xfrm>
          <a:prstGeom prst="rect">
            <a:avLst/>
          </a:prstGeom>
        </p:spPr>
      </p:pic>
      <p:sp>
        <p:nvSpPr>
          <p:cNvPr id="35" name="sketchy line">
            <a:extLst>
              <a:ext uri="{FF2B5EF4-FFF2-40B4-BE49-F238E27FC236}">
                <a16:creationId xmlns:a16="http://schemas.microsoft.com/office/drawing/2014/main" id="{35D99776-4B38-47DF-A302-11AD9AF87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37304" y="529256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705E3B4-17F0-AB12-BDE8-B22B7B3AC143}"/>
              </a:ext>
            </a:extLst>
          </p:cNvPr>
          <p:cNvSpPr txBox="1"/>
          <p:nvPr/>
        </p:nvSpPr>
        <p:spPr>
          <a:xfrm>
            <a:off x="5548884" y="4517882"/>
            <a:ext cx="6214871" cy="155448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lnSpcReduction="10000"/>
          </a:bodyPr>
          <a:lstStyle/>
          <a:p>
            <a:pPr>
              <a:lnSpc>
                <a:spcPct val="90000"/>
              </a:lnSpc>
              <a:spcAft>
                <a:spcPts val="600"/>
              </a:spcAft>
            </a:pPr>
            <a:r>
              <a:rPr lang="en-US" dirty="0"/>
              <a:t>Group – </a:t>
            </a:r>
            <a:r>
              <a:rPr lang="en-US" b="1" dirty="0"/>
              <a:t>L</a:t>
            </a:r>
            <a:r>
              <a:rPr lang="en-US" dirty="0"/>
              <a:t>azy </a:t>
            </a:r>
            <a:r>
              <a:rPr lang="en-US" b="1" dirty="0"/>
              <a:t>C</a:t>
            </a:r>
            <a:r>
              <a:rPr lang="en-US" dirty="0"/>
              <a:t>affeine </a:t>
            </a:r>
            <a:r>
              <a:rPr lang="en-US" b="1" dirty="0"/>
              <a:t>A</a:t>
            </a:r>
            <a:r>
              <a:rPr lang="en-US" dirty="0"/>
              <a:t>ddicts</a:t>
            </a:r>
          </a:p>
          <a:p>
            <a:pPr>
              <a:lnSpc>
                <a:spcPct val="90000"/>
              </a:lnSpc>
              <a:spcAft>
                <a:spcPts val="600"/>
              </a:spcAft>
            </a:pPr>
            <a:r>
              <a:rPr lang="en-US" i="1"/>
              <a:t>Aanand Nataraj</a:t>
            </a:r>
            <a:r>
              <a:rPr lang="en-US" i="1" dirty="0"/>
              <a:t> Satheesh Manimala, </a:t>
            </a:r>
          </a:p>
          <a:p>
            <a:pPr>
              <a:lnSpc>
                <a:spcPct val="90000"/>
              </a:lnSpc>
              <a:spcAft>
                <a:spcPts val="600"/>
              </a:spcAft>
            </a:pPr>
            <a:r>
              <a:rPr lang="en-US" i="1" dirty="0"/>
              <a:t>Alessandro Gorla, </a:t>
            </a:r>
          </a:p>
          <a:p>
            <a:pPr>
              <a:lnSpc>
                <a:spcPct val="90000"/>
              </a:lnSpc>
              <a:spcAft>
                <a:spcPts val="600"/>
              </a:spcAft>
            </a:pPr>
            <a:r>
              <a:rPr lang="en-US" i="1" dirty="0"/>
              <a:t>Áron Zsombor </a:t>
            </a:r>
            <a:r>
              <a:rPr lang="en-US" i="1" dirty="0" err="1"/>
              <a:t>Sebó</a:t>
            </a:r>
            <a:r>
              <a:rPr lang="en-US" i="1" dirty="0"/>
              <a:t>,</a:t>
            </a:r>
          </a:p>
          <a:p>
            <a:pPr>
              <a:lnSpc>
                <a:spcPct val="90000"/>
              </a:lnSpc>
              <a:spcAft>
                <a:spcPts val="600"/>
              </a:spcAft>
            </a:pPr>
            <a:r>
              <a:rPr lang="en-US" i="1" dirty="0"/>
              <a:t>Malte Pelle Rietdorf</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FC50-0E2F-4BF0-4E91-B5D1155EB5B9}"/>
              </a:ext>
            </a:extLst>
          </p:cNvPr>
          <p:cNvSpPr>
            <a:spLocks noGrp="1"/>
          </p:cNvSpPr>
          <p:nvPr>
            <p:ph type="title"/>
          </p:nvPr>
        </p:nvSpPr>
        <p:spPr>
          <a:xfrm>
            <a:off x="838200" y="271821"/>
            <a:ext cx="10515600" cy="1325563"/>
          </a:xfrm>
        </p:spPr>
        <p:txBody>
          <a:bodyPr/>
          <a:lstStyle/>
          <a:p>
            <a:r>
              <a:rPr lang="en-US" dirty="0"/>
              <a:t>Methodology and Goal and Scope</a:t>
            </a:r>
          </a:p>
        </p:txBody>
      </p:sp>
      <p:graphicFrame>
        <p:nvGraphicFramePr>
          <p:cNvPr id="5" name="Table 4">
            <a:extLst>
              <a:ext uri="{FF2B5EF4-FFF2-40B4-BE49-F238E27FC236}">
                <a16:creationId xmlns:a16="http://schemas.microsoft.com/office/drawing/2014/main" id="{38370D1A-E457-F161-2821-07618DDD8F7C}"/>
              </a:ext>
            </a:extLst>
          </p:cNvPr>
          <p:cNvGraphicFramePr>
            <a:graphicFrameLocks noGrp="1"/>
          </p:cNvGraphicFramePr>
          <p:nvPr>
            <p:extLst>
              <p:ext uri="{D42A27DB-BD31-4B8C-83A1-F6EECF244321}">
                <p14:modId xmlns:p14="http://schemas.microsoft.com/office/powerpoint/2010/main" val="453851498"/>
              </p:ext>
            </p:extLst>
          </p:nvPr>
        </p:nvGraphicFramePr>
        <p:xfrm>
          <a:off x="6305065" y="3662464"/>
          <a:ext cx="5048735" cy="1532036"/>
        </p:xfrm>
        <a:graphic>
          <a:graphicData uri="http://schemas.openxmlformats.org/drawingml/2006/table">
            <a:tbl>
              <a:tblPr firstRow="1" bandRow="1">
                <a:tableStyleId>{21E4AEA4-8DFA-4A89-87EB-49C32662AFE0}</a:tableStyleId>
              </a:tblPr>
              <a:tblGrid>
                <a:gridCol w="2488248">
                  <a:extLst>
                    <a:ext uri="{9D8B030D-6E8A-4147-A177-3AD203B41FA5}">
                      <a16:colId xmlns:a16="http://schemas.microsoft.com/office/drawing/2014/main" val="3583919"/>
                    </a:ext>
                  </a:extLst>
                </a:gridCol>
                <a:gridCol w="2560487">
                  <a:extLst>
                    <a:ext uri="{9D8B030D-6E8A-4147-A177-3AD203B41FA5}">
                      <a16:colId xmlns:a16="http://schemas.microsoft.com/office/drawing/2014/main" val="218268110"/>
                    </a:ext>
                  </a:extLst>
                </a:gridCol>
              </a:tblGrid>
              <a:tr h="439151">
                <a:tc>
                  <a:txBody>
                    <a:bodyPr/>
                    <a:lstStyle/>
                    <a:p>
                      <a:pPr algn="ctr"/>
                      <a:r>
                        <a:rPr lang="en-US" sz="1800" dirty="0">
                          <a:effectLst/>
                        </a:rPr>
                        <a:t>Specialized-</a:t>
                      </a:r>
                      <a:r>
                        <a:rPr lang="en-US" sz="1800" dirty="0" err="1">
                          <a:effectLst/>
                        </a:rPr>
                        <a:t>Allez</a:t>
                      </a:r>
                      <a:r>
                        <a:rPr lang="en-US" sz="1800" dirty="0">
                          <a:effectLst/>
                        </a:rPr>
                        <a:t> Sprint</a:t>
                      </a:r>
                      <a:endParaRPr lang="en-US" sz="1800" dirty="0">
                        <a:latin typeface="Aptos" panose="020B0004020202020204" pitchFamily="34" charset="0"/>
                        <a:cs typeface="Times New Roman" panose="02020603050405020304" pitchFamily="18" charset="0"/>
                      </a:endParaRPr>
                    </a:p>
                  </a:txBody>
                  <a:tcPr marL="68580" marR="68580" marT="34290" marB="34290"/>
                </a:tc>
                <a:tc>
                  <a:txBody>
                    <a:bodyPr/>
                    <a:lstStyle/>
                    <a:p>
                      <a:pPr algn="ctr"/>
                      <a:r>
                        <a:rPr lang="en-US" sz="1800" dirty="0">
                          <a:effectLst/>
                        </a:rPr>
                        <a:t>Specialized-Tarmac SL7</a:t>
                      </a:r>
                      <a:endParaRPr lang="en-US" sz="1800" dirty="0">
                        <a:latin typeface="Aptos" panose="020B0004020202020204" pitchFamily="34" charset="0"/>
                        <a:cs typeface="Times New Roman" panose="02020603050405020304" pitchFamily="18" charset="0"/>
                      </a:endParaRPr>
                    </a:p>
                  </a:txBody>
                  <a:tcPr marL="68580" marR="68580" marT="34290" marB="34290"/>
                </a:tc>
                <a:extLst>
                  <a:ext uri="{0D108BD9-81ED-4DB2-BD59-A6C34878D82A}">
                    <a16:rowId xmlns:a16="http://schemas.microsoft.com/office/drawing/2014/main" val="103052983"/>
                  </a:ext>
                </a:extLst>
              </a:tr>
              <a:tr h="457408">
                <a:tc>
                  <a:txBody>
                    <a:bodyPr/>
                    <a:lstStyle/>
                    <a:p>
                      <a:pPr algn="ctr"/>
                      <a:r>
                        <a:rPr lang="en-US" sz="1800" dirty="0"/>
                        <a:t>Aluminum</a:t>
                      </a:r>
                      <a:endParaRPr lang="en-US" sz="1800" dirty="0">
                        <a:latin typeface="Aptos" panose="020B0004020202020204" pitchFamily="34" charset="0"/>
                        <a:cs typeface="Times New Roman" panose="02020603050405020304" pitchFamily="18" charset="0"/>
                      </a:endParaRPr>
                    </a:p>
                  </a:txBody>
                  <a:tcPr marL="68580" marR="68580" marT="34290" marB="34290"/>
                </a:tc>
                <a:tc>
                  <a:txBody>
                    <a:bodyPr/>
                    <a:lstStyle/>
                    <a:p>
                      <a:pPr algn="ctr"/>
                      <a:r>
                        <a:rPr lang="en-US" sz="1800" dirty="0"/>
                        <a:t>Carbon Fiber</a:t>
                      </a:r>
                      <a:endParaRPr lang="en-US" sz="1800" dirty="0">
                        <a:latin typeface="Aptos" panose="020B0004020202020204" pitchFamily="34" charset="0"/>
                        <a:cs typeface="Times New Roman" panose="02020603050405020304" pitchFamily="18" charset="0"/>
                      </a:endParaRPr>
                    </a:p>
                  </a:txBody>
                  <a:tcPr marL="68580" marR="68580" marT="34290" marB="34290"/>
                </a:tc>
                <a:extLst>
                  <a:ext uri="{0D108BD9-81ED-4DB2-BD59-A6C34878D82A}">
                    <a16:rowId xmlns:a16="http://schemas.microsoft.com/office/drawing/2014/main" val="2664088583"/>
                  </a:ext>
                </a:extLst>
              </a:tr>
              <a:tr h="457408">
                <a:tc>
                  <a:txBody>
                    <a:bodyPr/>
                    <a:lstStyle/>
                    <a:p>
                      <a:pPr algn="ctr"/>
                      <a:r>
                        <a:rPr lang="en-US" sz="1800" dirty="0">
                          <a:effectLst/>
                        </a:rPr>
                        <a:t>2.35kg</a:t>
                      </a:r>
                      <a:endParaRPr lang="en-US" sz="1800" dirty="0">
                        <a:latin typeface="Aptos" panose="020B0004020202020204" pitchFamily="34" charset="0"/>
                        <a:cs typeface="Times New Roman" panose="02020603050405020304" pitchFamily="18" charset="0"/>
                      </a:endParaRPr>
                    </a:p>
                  </a:txBody>
                  <a:tcPr marL="68580" marR="68580" marT="34290" marB="34290"/>
                </a:tc>
                <a:tc>
                  <a:txBody>
                    <a:bodyPr/>
                    <a:lstStyle/>
                    <a:p>
                      <a:pPr algn="ctr"/>
                      <a:r>
                        <a:rPr lang="en-US" sz="1800" dirty="0">
                          <a:effectLst/>
                        </a:rPr>
                        <a:t>0.8kg</a:t>
                      </a:r>
                      <a:endParaRPr lang="en-US" sz="1800" dirty="0">
                        <a:latin typeface="Aptos" panose="020B0004020202020204" pitchFamily="34" charset="0"/>
                        <a:cs typeface="Times New Roman" panose="02020603050405020304" pitchFamily="18" charset="0"/>
                      </a:endParaRPr>
                    </a:p>
                  </a:txBody>
                  <a:tcPr marL="68580" marR="68580" marT="34290" marB="34290"/>
                </a:tc>
                <a:extLst>
                  <a:ext uri="{0D108BD9-81ED-4DB2-BD59-A6C34878D82A}">
                    <a16:rowId xmlns:a16="http://schemas.microsoft.com/office/drawing/2014/main" val="2980656454"/>
                  </a:ext>
                </a:extLst>
              </a:tr>
            </a:tbl>
          </a:graphicData>
        </a:graphic>
      </p:graphicFrame>
      <p:graphicFrame>
        <p:nvGraphicFramePr>
          <p:cNvPr id="6" name="Table 5">
            <a:extLst>
              <a:ext uri="{FF2B5EF4-FFF2-40B4-BE49-F238E27FC236}">
                <a16:creationId xmlns:a16="http://schemas.microsoft.com/office/drawing/2014/main" id="{75A21B57-7202-E71F-7127-5F4073BB4DB5}"/>
              </a:ext>
            </a:extLst>
          </p:cNvPr>
          <p:cNvGraphicFramePr>
            <a:graphicFrameLocks noGrp="1"/>
          </p:cNvGraphicFramePr>
          <p:nvPr>
            <p:extLst>
              <p:ext uri="{D42A27DB-BD31-4B8C-83A1-F6EECF244321}">
                <p14:modId xmlns:p14="http://schemas.microsoft.com/office/powerpoint/2010/main" val="444650904"/>
              </p:ext>
            </p:extLst>
          </p:nvPr>
        </p:nvGraphicFramePr>
        <p:xfrm>
          <a:off x="6304201" y="2341159"/>
          <a:ext cx="5048734" cy="370840"/>
        </p:xfrm>
        <a:graphic>
          <a:graphicData uri="http://schemas.openxmlformats.org/drawingml/2006/table">
            <a:tbl>
              <a:tblPr firstRow="1" bandRow="1">
                <a:tableStyleId>{21E4AEA4-8DFA-4A89-87EB-49C32662AFE0}</a:tableStyleId>
              </a:tblPr>
              <a:tblGrid>
                <a:gridCol w="2502917">
                  <a:extLst>
                    <a:ext uri="{9D8B030D-6E8A-4147-A177-3AD203B41FA5}">
                      <a16:colId xmlns:a16="http://schemas.microsoft.com/office/drawing/2014/main" val="1237626688"/>
                    </a:ext>
                  </a:extLst>
                </a:gridCol>
                <a:gridCol w="2545817">
                  <a:extLst>
                    <a:ext uri="{9D8B030D-6E8A-4147-A177-3AD203B41FA5}">
                      <a16:colId xmlns:a16="http://schemas.microsoft.com/office/drawing/2014/main" val="3474777164"/>
                    </a:ext>
                  </a:extLst>
                </a:gridCol>
              </a:tblGrid>
              <a:tr h="370840">
                <a:tc>
                  <a:txBody>
                    <a:bodyPr/>
                    <a:lstStyle/>
                    <a:p>
                      <a:pPr algn="ctr"/>
                      <a:r>
                        <a:rPr lang="en-US" dirty="0"/>
                        <a:t>Functional Unit</a:t>
                      </a:r>
                      <a:endParaRPr lang="en-US" dirty="0">
                        <a:latin typeface="+mn-lt"/>
                        <a:cs typeface="Times New Roman" panose="02020603050405020304" pitchFamily="18" charset="0"/>
                      </a:endParaRPr>
                    </a:p>
                  </a:txBody>
                  <a:tcPr/>
                </a:tc>
                <a:tc>
                  <a:txBody>
                    <a:bodyPr/>
                    <a:lstStyle/>
                    <a:p>
                      <a:pPr marL="0" algn="ctr" defTabSz="914400" rtl="0" eaLnBrk="1" latinLnBrk="0" hangingPunct="1"/>
                      <a:r>
                        <a:rPr lang="en-US" sz="1800" b="0" kern="1200" dirty="0">
                          <a:solidFill>
                            <a:schemeClr val="dk1"/>
                          </a:solidFill>
                          <a:effectLst/>
                          <a:latin typeface="+mn-lt"/>
                          <a:ea typeface="+mn-ea"/>
                          <a:cs typeface="+mn-cs"/>
                        </a:rPr>
                        <a:t>10,000 km</a:t>
                      </a:r>
                    </a:p>
                  </a:txBody>
                  <a:tcPr>
                    <a:solidFill>
                      <a:srgbClr val="FBEBE8"/>
                    </a:solidFill>
                  </a:tcPr>
                </a:tc>
                <a:extLst>
                  <a:ext uri="{0D108BD9-81ED-4DB2-BD59-A6C34878D82A}">
                    <a16:rowId xmlns:a16="http://schemas.microsoft.com/office/drawing/2014/main" val="1909533048"/>
                  </a:ext>
                </a:extLst>
              </a:tr>
            </a:tbl>
          </a:graphicData>
        </a:graphic>
      </p:graphicFrame>
      <p:pic>
        <p:nvPicPr>
          <p:cNvPr id="8" name="Content Placeholder 3">
            <a:extLst>
              <a:ext uri="{FF2B5EF4-FFF2-40B4-BE49-F238E27FC236}">
                <a16:creationId xmlns:a16="http://schemas.microsoft.com/office/drawing/2014/main" id="{6B1DBA6B-6ECD-D271-2167-97140E15B758}"/>
              </a:ext>
            </a:extLst>
          </p:cNvPr>
          <p:cNvPicPr>
            <a:picLocks noGrp="1" noChangeAspect="1"/>
          </p:cNvPicPr>
          <p:nvPr>
            <p:ph idx="1"/>
          </p:nvPr>
        </p:nvPicPr>
        <p:blipFill>
          <a:blip r:embed="rId3"/>
          <a:stretch>
            <a:fillRect/>
          </a:stretch>
        </p:blipFill>
        <p:spPr>
          <a:xfrm>
            <a:off x="838200" y="1597384"/>
            <a:ext cx="5049601" cy="4344350"/>
          </a:xfrm>
        </p:spPr>
      </p:pic>
    </p:spTree>
    <p:extLst>
      <p:ext uri="{BB962C8B-B14F-4D97-AF65-F5344CB8AC3E}">
        <p14:creationId xmlns:p14="http://schemas.microsoft.com/office/powerpoint/2010/main" val="4188478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1319" y="678240"/>
            <a:ext cx="11631561" cy="769441"/>
          </a:xfrm>
          <a:prstGeom prst="rect">
            <a:avLst/>
          </a:prstGeom>
          <a:noFill/>
        </p:spPr>
        <p:txBody>
          <a:bodyPr wrap="square" rtlCol="0">
            <a:spAutoFit/>
          </a:bodyPr>
          <a:lstStyle/>
          <a:p>
            <a:pPr algn="ctr"/>
            <a:r>
              <a:rPr lang="en-IN" sz="4400" dirty="0">
                <a:latin typeface="+mj-lt"/>
              </a:rPr>
              <a:t>Aluminium</a:t>
            </a:r>
            <a:r>
              <a:rPr lang="en-IN" sz="4000" dirty="0">
                <a:effectLst>
                  <a:outerShdw blurRad="38100" dist="38100" dir="2700000" algn="tl">
                    <a:srgbClr val="000000">
                      <a:alpha val="43137"/>
                    </a:srgbClr>
                  </a:outerShdw>
                </a:effectLst>
                <a:latin typeface="+mj-lt"/>
              </a:rPr>
              <a:t>                 </a:t>
            </a:r>
            <a:r>
              <a:rPr lang="en-IN" sz="4000" dirty="0">
                <a:latin typeface="+mj-lt"/>
              </a:rPr>
              <a:t>Vs           Carbon Fiber</a:t>
            </a:r>
          </a:p>
        </p:txBody>
      </p:sp>
      <p:sp>
        <p:nvSpPr>
          <p:cNvPr id="5" name="TextBox 4"/>
          <p:cNvSpPr txBox="1"/>
          <p:nvPr/>
        </p:nvSpPr>
        <p:spPr>
          <a:xfrm>
            <a:off x="1368956" y="2286133"/>
            <a:ext cx="7275872" cy="1631216"/>
          </a:xfrm>
          <a:prstGeom prst="rect">
            <a:avLst/>
          </a:prstGeom>
          <a:noFill/>
        </p:spPr>
        <p:txBody>
          <a:bodyPr wrap="square" rtlCol="0">
            <a:spAutoFit/>
          </a:bodyPr>
          <a:lstStyle/>
          <a:p>
            <a:pPr marL="283464" indent="-283464" algn="l" rtl="0" eaLnBrk="1" latinLnBrk="0" hangingPunct="1">
              <a:spcBef>
                <a:spcPts val="0"/>
              </a:spcBef>
              <a:spcAft>
                <a:spcPts val="0"/>
              </a:spcAft>
              <a:buClrTx/>
              <a:buSzPts val="2000"/>
              <a:buFont typeface="Arial" panose="020B0604020202020204" pitchFamily="34" charset="0"/>
              <a:buChar char="•"/>
            </a:pPr>
            <a:r>
              <a:rPr lang="en-IN" sz="2000" kern="1200" dirty="0">
                <a:solidFill>
                  <a:srgbClr val="000000"/>
                </a:solidFill>
                <a:effectLst/>
                <a:ea typeface="+mn-ea"/>
                <a:cs typeface="+mn-cs"/>
              </a:rPr>
              <a:t>Highly recyclable</a:t>
            </a:r>
            <a:endParaRPr lang="en-IN" sz="2000" dirty="0">
              <a:effectLst/>
            </a:endParaRPr>
          </a:p>
          <a:p>
            <a:pPr marL="285750" indent="-285750" algn="l" rtl="0" eaLnBrk="1" latinLnBrk="0" hangingPunct="1">
              <a:spcBef>
                <a:spcPts val="0"/>
              </a:spcBef>
              <a:spcAft>
                <a:spcPts val="0"/>
              </a:spcAft>
              <a:buFont typeface="Arial" panose="020B0604020202020204" pitchFamily="34" charset="0"/>
              <a:buChar char="•"/>
            </a:pPr>
            <a:r>
              <a:rPr lang="en-IN" sz="2000" kern="1200" dirty="0">
                <a:solidFill>
                  <a:srgbClr val="000000"/>
                </a:solidFill>
                <a:effectLst/>
                <a:ea typeface="+mn-ea"/>
                <a:cs typeface="+mn-cs"/>
              </a:rPr>
              <a:t>Easily repairable</a:t>
            </a:r>
            <a:endParaRPr lang="en-IN" sz="2000" kern="1200" dirty="0">
              <a:solidFill>
                <a:srgbClr val="000000"/>
              </a:solidFill>
              <a:ea typeface="+mn-ea"/>
              <a:cs typeface="+mn-cs"/>
            </a:endParaRPr>
          </a:p>
          <a:p>
            <a:endParaRPr lang="en-IN" sz="2000" dirty="0"/>
          </a:p>
          <a:p>
            <a:pPr marL="283464" indent="-283464" algn="l" rtl="0" eaLnBrk="1" latinLnBrk="0" hangingPunct="1">
              <a:spcBef>
                <a:spcPts val="0"/>
              </a:spcBef>
              <a:spcAft>
                <a:spcPts val="0"/>
              </a:spcAft>
              <a:buClrTx/>
              <a:buSzPts val="2000"/>
              <a:buFont typeface="Arial" panose="020B0604020202020204" pitchFamily="34" charset="0"/>
              <a:buChar char="•"/>
            </a:pPr>
            <a:r>
              <a:rPr lang="en-IN" sz="2000" kern="1200" dirty="0">
                <a:solidFill>
                  <a:srgbClr val="000000"/>
                </a:solidFill>
                <a:effectLst/>
                <a:ea typeface="+mn-ea"/>
                <a:cs typeface="+mn-cs"/>
              </a:rPr>
              <a:t>Energy intensive production process </a:t>
            </a:r>
            <a:endParaRPr lang="en-IN" sz="2000" dirty="0">
              <a:effectLst/>
            </a:endParaRPr>
          </a:p>
          <a:p>
            <a:pPr marL="285750" indent="-285750" algn="l" rtl="0" eaLnBrk="1" latinLnBrk="0" hangingPunct="1">
              <a:spcBef>
                <a:spcPts val="0"/>
              </a:spcBef>
              <a:spcAft>
                <a:spcPts val="0"/>
              </a:spcAft>
              <a:buFont typeface="Arial" panose="020B0604020202020204" pitchFamily="34" charset="0"/>
              <a:buChar char="•"/>
            </a:pPr>
            <a:r>
              <a:rPr lang="en-IN" sz="2000" kern="1200" dirty="0">
                <a:solidFill>
                  <a:srgbClr val="000000"/>
                </a:solidFill>
                <a:effectLst/>
                <a:ea typeface="+mn-ea"/>
                <a:cs typeface="+mn-cs"/>
              </a:rPr>
              <a:t>Complex manufacturing process</a:t>
            </a:r>
            <a:endParaRPr lang="en-IN" sz="2000" dirty="0">
              <a:effectLst/>
            </a:endParaRPr>
          </a:p>
        </p:txBody>
      </p:sp>
      <p:sp>
        <p:nvSpPr>
          <p:cNvPr id="6" name="TextBox 5"/>
          <p:cNvSpPr txBox="1"/>
          <p:nvPr/>
        </p:nvSpPr>
        <p:spPr>
          <a:xfrm>
            <a:off x="7346970" y="2286133"/>
            <a:ext cx="5390310" cy="1938992"/>
          </a:xfrm>
          <a:prstGeom prst="rect">
            <a:avLst/>
          </a:prstGeom>
          <a:noFill/>
        </p:spPr>
        <p:txBody>
          <a:bodyPr wrap="square" rtlCol="0">
            <a:spAutoFit/>
          </a:bodyPr>
          <a:lstStyle/>
          <a:p>
            <a:pPr marL="285750" indent="-285750">
              <a:buFont typeface="Arial" panose="020B0604020202020204" pitchFamily="34" charset="0"/>
              <a:buChar char="•"/>
            </a:pPr>
            <a:r>
              <a:rPr lang="en-IN" sz="2000" dirty="0"/>
              <a:t>Varying stiffness and strength</a:t>
            </a:r>
          </a:p>
          <a:p>
            <a:pPr marL="285750" indent="-285750">
              <a:buFont typeface="Arial" panose="020B0604020202020204" pitchFamily="34" charset="0"/>
              <a:buChar char="•"/>
            </a:pPr>
            <a:r>
              <a:rPr lang="en-IN" sz="2000" dirty="0"/>
              <a:t>Lightweight</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Non-biodegradable</a:t>
            </a:r>
          </a:p>
          <a:p>
            <a:pPr marL="285750" indent="-285750">
              <a:buFont typeface="Arial" panose="020B0604020202020204" pitchFamily="34" charset="0"/>
              <a:buChar char="•"/>
            </a:pPr>
            <a:r>
              <a:rPr lang="en-IN" sz="2000" dirty="0"/>
              <a:t>Poor recyclability</a:t>
            </a:r>
          </a:p>
          <a:p>
            <a:pPr marL="285750" indent="-285750">
              <a:buFont typeface="Arial" panose="020B0604020202020204" pitchFamily="34" charset="0"/>
              <a:buChar char="•"/>
            </a:pPr>
            <a:r>
              <a:rPr lang="en-IN" sz="2000" dirty="0"/>
              <a:t>Not easily replaceable</a:t>
            </a:r>
          </a:p>
        </p:txBody>
      </p:sp>
      <p:sp>
        <p:nvSpPr>
          <p:cNvPr id="4" name="TextBox 3">
            <a:extLst>
              <a:ext uri="{FF2B5EF4-FFF2-40B4-BE49-F238E27FC236}">
                <a16:creationId xmlns:a16="http://schemas.microsoft.com/office/drawing/2014/main" id="{B4AB781D-17B7-FCA5-6301-F5EC777DA608}"/>
              </a:ext>
            </a:extLst>
          </p:cNvPr>
          <p:cNvSpPr txBox="1"/>
          <p:nvPr/>
        </p:nvSpPr>
        <p:spPr>
          <a:xfrm>
            <a:off x="1219200" y="2755900"/>
            <a:ext cx="9994900" cy="369332"/>
          </a:xfrm>
          <a:prstGeom prst="rect">
            <a:avLst/>
          </a:prstGeom>
          <a:noFill/>
        </p:spPr>
        <p:txBody>
          <a:bodyPr wrap="square" rtlCol="0">
            <a:spAutoFit/>
          </a:bodyPr>
          <a:lstStyle/>
          <a:p>
            <a:r>
              <a:rPr lang="en-IN" dirty="0"/>
              <a:t>_____________________________________________________________________________________________</a:t>
            </a:r>
          </a:p>
        </p:txBody>
      </p:sp>
    </p:spTree>
    <p:extLst>
      <p:ext uri="{BB962C8B-B14F-4D97-AF65-F5344CB8AC3E}">
        <p14:creationId xmlns:p14="http://schemas.microsoft.com/office/powerpoint/2010/main" val="4266590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A70F28-D2D8-DE7B-8CDC-8F4A7E42DF26}"/>
              </a:ext>
            </a:extLst>
          </p:cNvPr>
          <p:cNvSpPr>
            <a:spLocks noGrp="1"/>
          </p:cNvSpPr>
          <p:nvPr>
            <p:ph type="title"/>
          </p:nvPr>
        </p:nvSpPr>
        <p:spPr>
          <a:xfrm>
            <a:off x="838201" y="365125"/>
            <a:ext cx="5251316" cy="1807305"/>
          </a:xfrm>
        </p:spPr>
        <p:txBody>
          <a:bodyPr>
            <a:normAutofit/>
          </a:bodyPr>
          <a:lstStyle/>
          <a:p>
            <a:r>
              <a:rPr lang="en-US" dirty="0"/>
              <a:t>Conclusion and Future Outlook</a:t>
            </a:r>
          </a:p>
        </p:txBody>
      </p:sp>
      <p:sp>
        <p:nvSpPr>
          <p:cNvPr id="3" name="Content Placeholder 2">
            <a:extLst>
              <a:ext uri="{FF2B5EF4-FFF2-40B4-BE49-F238E27FC236}">
                <a16:creationId xmlns:a16="http://schemas.microsoft.com/office/drawing/2014/main" id="{B9A6EA0A-658F-DB84-7082-1137213FAF9B}"/>
              </a:ext>
            </a:extLst>
          </p:cNvPr>
          <p:cNvSpPr>
            <a:spLocks noGrp="1"/>
          </p:cNvSpPr>
          <p:nvPr>
            <p:ph idx="1"/>
          </p:nvPr>
        </p:nvSpPr>
        <p:spPr>
          <a:xfrm>
            <a:off x="1709057" y="2343594"/>
            <a:ext cx="4207730" cy="3524451"/>
          </a:xfrm>
        </p:spPr>
        <p:txBody>
          <a:bodyPr vert="horz" lIns="68580" tIns="34290" rIns="68580" bIns="34290" rtlCol="0" anchor="t">
            <a:normAutofit/>
          </a:bodyPr>
          <a:lstStyle/>
          <a:p>
            <a:pPr marL="0" indent="0">
              <a:lnSpc>
                <a:spcPct val="300000"/>
              </a:lnSpc>
              <a:buNone/>
            </a:pPr>
            <a:r>
              <a:rPr lang="en-US" sz="2400" dirty="0">
                <a:ea typeface="+mn-lt"/>
                <a:cs typeface="+mn-lt"/>
              </a:rPr>
              <a:t>Environmental impacts </a:t>
            </a:r>
            <a:endParaRPr lang="en-US" sz="2400" dirty="0"/>
          </a:p>
          <a:p>
            <a:pPr marL="0" indent="0">
              <a:lnSpc>
                <a:spcPct val="300000"/>
              </a:lnSpc>
              <a:buNone/>
            </a:pPr>
            <a:r>
              <a:rPr lang="en-US" sz="2400" dirty="0"/>
              <a:t>Current challenges</a:t>
            </a:r>
          </a:p>
          <a:p>
            <a:pPr marL="0" indent="0">
              <a:lnSpc>
                <a:spcPct val="300000"/>
              </a:lnSpc>
              <a:buNone/>
            </a:pPr>
            <a:r>
              <a:rPr lang="en-US" sz="2400" dirty="0">
                <a:ea typeface="+mn-lt"/>
                <a:cs typeface="+mn-lt"/>
              </a:rPr>
              <a:t>Improvement focus</a:t>
            </a:r>
            <a:endParaRPr lang="en-US" sz="2400" dirty="0"/>
          </a:p>
        </p:txBody>
      </p:sp>
      <p:pic>
        <p:nvPicPr>
          <p:cNvPr id="6" name="Picture 5" descr="Alloy Frame vs Carbon- What’s better?">
            <a:extLst>
              <a:ext uri="{FF2B5EF4-FFF2-40B4-BE49-F238E27FC236}">
                <a16:creationId xmlns:a16="http://schemas.microsoft.com/office/drawing/2014/main" id="{C3509724-C357-6DFD-76F8-82B06876AA8F}"/>
              </a:ext>
            </a:extLst>
          </p:cNvPr>
          <p:cNvPicPr>
            <a:picLocks noChangeAspect="1"/>
          </p:cNvPicPr>
          <p:nvPr/>
        </p:nvPicPr>
        <p:blipFill>
          <a:blip r:embed="rId3"/>
          <a:srcRect l="12286" r="35524"/>
          <a:stretch/>
        </p:blipFill>
        <p:spPr>
          <a:xfrm>
            <a:off x="6229215" y="10"/>
            <a:ext cx="5965426" cy="6857997"/>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pic>
        <p:nvPicPr>
          <p:cNvPr id="12" name="Picture 11" descr="Environmental Impact Vector Icon ...">
            <a:extLst>
              <a:ext uri="{FF2B5EF4-FFF2-40B4-BE49-F238E27FC236}">
                <a16:creationId xmlns:a16="http://schemas.microsoft.com/office/drawing/2014/main" id="{0D5C1EDE-49AE-9EE9-72A8-22E149A23057}"/>
              </a:ext>
            </a:extLst>
          </p:cNvPr>
          <p:cNvPicPr>
            <a:picLocks noChangeAspect="1"/>
          </p:cNvPicPr>
          <p:nvPr/>
        </p:nvPicPr>
        <p:blipFill>
          <a:blip r:embed="rId4"/>
          <a:stretch>
            <a:fillRect/>
          </a:stretch>
        </p:blipFill>
        <p:spPr>
          <a:xfrm>
            <a:off x="909289" y="2724554"/>
            <a:ext cx="685800" cy="714375"/>
          </a:xfrm>
          <a:prstGeom prst="rect">
            <a:avLst/>
          </a:prstGeom>
        </p:spPr>
      </p:pic>
      <p:pic>
        <p:nvPicPr>
          <p:cNvPr id="14" name="Picture 13" descr="Performance Improvement Icons - Free ...">
            <a:extLst>
              <a:ext uri="{FF2B5EF4-FFF2-40B4-BE49-F238E27FC236}">
                <a16:creationId xmlns:a16="http://schemas.microsoft.com/office/drawing/2014/main" id="{97554F75-97D8-079E-2726-D14B48D02C3D}"/>
              </a:ext>
            </a:extLst>
          </p:cNvPr>
          <p:cNvPicPr>
            <a:picLocks noChangeAspect="1"/>
          </p:cNvPicPr>
          <p:nvPr/>
        </p:nvPicPr>
        <p:blipFill>
          <a:blip r:embed="rId5"/>
          <a:stretch>
            <a:fillRect/>
          </a:stretch>
        </p:blipFill>
        <p:spPr>
          <a:xfrm>
            <a:off x="897704" y="5132834"/>
            <a:ext cx="694553" cy="723900"/>
          </a:xfrm>
          <a:prstGeom prst="rect">
            <a:avLst/>
          </a:prstGeom>
        </p:spPr>
      </p:pic>
      <p:pic>
        <p:nvPicPr>
          <p:cNvPr id="15" name="Picture 14" descr="vector icons designed by Eucalyp">
            <a:extLst>
              <a:ext uri="{FF2B5EF4-FFF2-40B4-BE49-F238E27FC236}">
                <a16:creationId xmlns:a16="http://schemas.microsoft.com/office/drawing/2014/main" id="{56CF992E-B22F-51F7-953C-48D13B74E58D}"/>
              </a:ext>
            </a:extLst>
          </p:cNvPr>
          <p:cNvPicPr>
            <a:picLocks noChangeAspect="1"/>
          </p:cNvPicPr>
          <p:nvPr/>
        </p:nvPicPr>
        <p:blipFill>
          <a:blip r:embed="rId6"/>
          <a:stretch>
            <a:fillRect/>
          </a:stretch>
        </p:blipFill>
        <p:spPr>
          <a:xfrm>
            <a:off x="906714" y="3998845"/>
            <a:ext cx="685800" cy="647700"/>
          </a:xfrm>
          <a:prstGeom prst="rect">
            <a:avLst/>
          </a:prstGeom>
        </p:spPr>
      </p:pic>
    </p:spTree>
    <p:extLst>
      <p:ext uri="{BB962C8B-B14F-4D97-AF65-F5344CB8AC3E}">
        <p14:creationId xmlns:p14="http://schemas.microsoft.com/office/powerpoint/2010/main" val="5700522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154094FF6AF8F7438AE0A1D09725FAD8" ma:contentTypeVersion="6" ma:contentTypeDescription="Opret et nyt dokument." ma:contentTypeScope="" ma:versionID="6cecb5c5027397bc5bc63865d8eabe54">
  <xsd:schema xmlns:xsd="http://www.w3.org/2001/XMLSchema" xmlns:xs="http://www.w3.org/2001/XMLSchema" xmlns:p="http://schemas.microsoft.com/office/2006/metadata/properties" xmlns:ns3="0ae3e10c-e133-4853-a812-fcf79e311f72" targetNamespace="http://schemas.microsoft.com/office/2006/metadata/properties" ma:root="true" ma:fieldsID="bc570a2f8ec6d8c47a58fbd1f5e82727" ns3:_="">
    <xsd:import namespace="0ae3e10c-e133-4853-a812-fcf79e311f7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e3e10c-e133-4853-a812-fcf79e311f7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ae3e10c-e133-4853-a812-fcf79e311f72" xsi:nil="true"/>
  </documentManagement>
</p:properties>
</file>

<file path=customXml/itemProps1.xml><?xml version="1.0" encoding="utf-8"?>
<ds:datastoreItem xmlns:ds="http://schemas.openxmlformats.org/officeDocument/2006/customXml" ds:itemID="{16763360-BDDF-45DF-AE6E-9DE2730243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e3e10c-e133-4853-a812-fcf79e311f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FB0A83-2B4E-4178-B5D3-3240FC0584EE}">
  <ds:schemaRefs>
    <ds:schemaRef ds:uri="http://schemas.microsoft.com/sharepoint/v3/contenttype/forms"/>
  </ds:schemaRefs>
</ds:datastoreItem>
</file>

<file path=customXml/itemProps3.xml><?xml version="1.0" encoding="utf-8"?>
<ds:datastoreItem xmlns:ds="http://schemas.openxmlformats.org/officeDocument/2006/customXml" ds:itemID="{0DDC8855-D8A5-48AC-842B-B7D68CE969F6}">
  <ds:schemaRefs>
    <ds:schemaRef ds:uri="http://schemas.microsoft.com/office/2006/metadata/properties"/>
    <ds:schemaRef ds:uri="http://schemas.openxmlformats.org/package/2006/metadata/core-properties"/>
    <ds:schemaRef ds:uri="http://purl.org/dc/elements/1.1/"/>
    <ds:schemaRef ds:uri="http://purl.org/dc/terms/"/>
    <ds:schemaRef ds:uri="http://www.w3.org/XML/1998/namespace"/>
    <ds:schemaRef ds:uri="http://schemas.microsoft.com/office/2006/documentManagement/types"/>
    <ds:schemaRef ds:uri="http://schemas.microsoft.com/office/infopath/2007/PartnerControls"/>
    <ds:schemaRef ds:uri="0ae3e10c-e133-4853-a812-fcf79e311f72"/>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52</TotalTime>
  <Words>385</Words>
  <Application>Microsoft Office PowerPoint</Application>
  <PresentationFormat>Widescreen</PresentationFormat>
  <Paragraphs>43</Paragraphs>
  <Slides>4</Slides>
  <Notes>3</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Comparative Life Cycle Assessment of Aluminium and Carbon Fiber Bike Frames</vt:lpstr>
      <vt:lpstr>Methodology and Goal and Scope</vt:lpstr>
      <vt:lpstr>PowerPoint Presentation</vt:lpstr>
      <vt:lpstr>Conclusion and Future Outlook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Aanandnataraj Satheesh Manimala</cp:lastModifiedBy>
  <cp:revision>5</cp:revision>
  <dcterms:created xsi:type="dcterms:W3CDTF">2024-09-27T09:47:56Z</dcterms:created>
  <dcterms:modified xsi:type="dcterms:W3CDTF">2024-10-26T11:16:18Z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0x010100154094FF6AF8F7438AE0A1D09725FAD8</vt:lpwstr>
  </property>
</Properties>
</file>